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  <a:defRPr sz="48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85C4F"/>
                </a:solidFill>
                <a:latin typeface="Segoe UI"/>
              </a:defRPr>
            </a:pPr>
            <a:r>
              <a:t>HealthSphere AI</a:t>
            </a:r>
          </a:p>
          <a:p>
            <a:pPr algn="ctr">
              <a:spcBef>
                <a:spcPts val="1000"/>
              </a:spcBef>
              <a:spcAft>
                <a:spcPts val="400"/>
              </a:spcAft>
              <a:defRPr sz="2400" b="0">
                <a:solidFill>
                  <a:srgbClr val="64748B"/>
                </a:solidFill>
                <a:latin typeface="Segoe UI"/>
              </a:defRPr>
            </a:pPr>
            <a:r>
              <a:t>Production Readiness Sprint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Feature-complete MVP  →  Production-hardened, scalable, compliant  →  Real users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484632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4-5 Day Sprint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484632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16 Slide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846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Go / No-Go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Zero-dependency Node backend  ·  Vanilla JS SPA  ·  Supabase Postgres  ·  Free-tier cloud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88720"/>
            <a:ext cx="1069848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271016"/>
            <a:ext cx="365760" cy="365760"/>
          </a:xfrm>
          <a:prstGeom prst="ellipse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34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Architecture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6304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What we have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10512"/>
            <a:ext cx="1069848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1892808"/>
            <a:ext cx="365760" cy="365760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85623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Family Tree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08483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4-generation health tree &amp; condition inheritance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432304"/>
            <a:ext cx="1069848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2514600"/>
            <a:ext cx="365760" cy="365760"/>
          </a:xfrm>
          <a:prstGeom prst="ellipse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47802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Critical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706624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Security · Scale · Compliance ·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54096"/>
            <a:ext cx="1069848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3136392"/>
            <a:ext cx="365760" cy="365760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09981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Day-by-Day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328416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4–5 day execution breakdown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75888"/>
            <a:ext cx="1069848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3758184"/>
            <a:ext cx="365760" cy="365760"/>
          </a:xfrm>
          <a:prstGeom prst="ellipse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72160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Database Migration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950208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JSON blob → relational Postgres (30 tables)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297680"/>
            <a:ext cx="1069848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4379976"/>
            <a:ext cx="365760" cy="365760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3434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Security Hardening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57200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Auth · Headers · MFA · CSRF · Rate Limits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919472"/>
            <a:ext cx="1069848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" y="5001768"/>
            <a:ext cx="365760" cy="365760"/>
          </a:xfrm>
          <a:prstGeom prst="ellipse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49651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Observability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1937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Logs · Metrics · Alerts · Error Tracking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541264"/>
            <a:ext cx="10698480" cy="530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400" y="5623560"/>
            <a:ext cx="365760" cy="365760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558698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Launch + Roadmap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815584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Go/No-Go criteria · Week 2 → Quarter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Current Stack — Feature-Complete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3 / 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8016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858000"/>
                <a:gridCol w="2194560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0D7C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0D7C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D7C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Backend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Node.js 18+ (ESM), zero framework HTTP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API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Custom REST router + hash-based SPA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JSON file OR Supabase jsonb (single row)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MVP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File Storage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4-tier: Supabase / Cloudinary / DB-embed / Local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Working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scrypt + HttpOnly cookies, 7-day sessions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Working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Vanilla JS SPA, hash router, Service Worker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AI / Insights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Rule-based extraction, trends, risk signals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Multi-role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Patient / Doctor / Store Owner / Admin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Complete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Docker + Vercel + Railway-ready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029200"/>
            <a:ext cx="33832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5193792"/>
            <a:ext cx="365760" cy="365760"/>
          </a:xfrm>
          <a:prstGeom prst="ellipse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389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85C4F"/>
                </a:solidFill>
                <a:latin typeface="Segoe UI"/>
              </a:defRPr>
            </a:pPr>
            <a:r>
              <a:t>Zero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5321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Segoe UI"/>
              </a:defRPr>
            </a:pPr>
            <a:r>
              <a:t>No Express, no React, no ORM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50" b="0">
                <a:solidFill>
                  <a:srgbClr val="64748B"/>
                </a:solidFill>
                <a:latin typeface="Segoe UI"/>
              </a:defRPr>
            </a:pPr>
            <a:r>
              <a:t>Runs anywhere: Vercel, Docker, VPS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5029200"/>
            <a:ext cx="338328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07992" y="5193792"/>
            <a:ext cx="365760" cy="365760"/>
          </a:xfrm>
          <a:prstGeom prst="ellipse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513892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85C4F"/>
                </a:solidFill>
                <a:latin typeface="Segoe UI"/>
              </a:defRPr>
            </a:pPr>
            <a:r>
              <a:t>Explainable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53212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Segoe UI"/>
              </a:defRPr>
            </a:pPr>
            <a:r>
              <a:t>Rules engine shows WHY each signal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50" b="0">
                <a:solidFill>
                  <a:srgbClr val="64748B"/>
                </a:solidFill>
                <a:latin typeface="Segoe UI"/>
              </a:defRPr>
            </a:pPr>
            <a:r>
              <a:t>No hallucination risk, auditable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5029200"/>
            <a:ext cx="347472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19871" y="5193792"/>
            <a:ext cx="365760" cy="365760"/>
          </a:xfrm>
          <a:prstGeom prst="ellipse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200" b="1">
                <a:solidFill>
                  <a:srgbClr val="FFFFFF"/>
                </a:solidFill>
              </a:defRPr>
            </a:pPr>
            <a:r>
              <a:t>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59" y="513892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85C4F"/>
                </a:solidFill>
                <a:latin typeface="Segoe UI"/>
              </a:defRPr>
            </a:pPr>
            <a:r>
              <a:t>Offline-First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53212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Segoe UI"/>
              </a:defRPr>
            </a:pPr>
            <a:r>
              <a:t>Service Worker caching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50" b="0">
                <a:solidFill>
                  <a:srgbClr val="64748B"/>
                </a:solidFill>
                <a:latin typeface="Segoe UI"/>
              </a:defRPr>
            </a:pPr>
            <a:r>
              <a:t>Works on flaky connections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How It Works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Request Flow &amp; Data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560320" cy="1645920"/>
          </a:xfrm>
          <a:prstGeom prst="roundRect">
            <a:avLst>
              <a:gd name="adj" fmla="val 4000"/>
            </a:avLst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Browser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Vanilla JS SPA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Hash router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Service Worker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Fetch API (cookies)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83280" y="2057400"/>
            <a:ext cx="7315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2560320" cy="1645920"/>
          </a:xfrm>
          <a:prstGeom prst="roundRect">
            <a:avLst>
              <a:gd name="adj" fmla="val 4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Node.js Server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server.js (http)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lib/api.js (router)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Security headers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Static file serving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58000" y="2057400"/>
            <a:ext cx="7315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0" y="1371600"/>
            <a:ext cx="3749039" cy="164592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Storage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Supabase Postgres (jsonb)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OR local data/db.json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Supabase Storage (files)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OR Cloudinary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08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Auth Module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scrypt password hash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Session tokens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Rate limiting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Audit logging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47472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Extraction Engine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PDF/TXT parsing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38 lab analytes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Reference ranges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Plain-language explain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7472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Trend Engine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Linear regression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Anomaly detection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Direction analysis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Staleness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474720"/>
            <a:ext cx="1828800" cy="137160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Risk Engine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Rule-based signals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Severity: attention/watch/info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Explainability (why)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Safety sanitize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3474720"/>
            <a:ext cx="1874519" cy="137160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Family Tree Hierarchy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4-generation SVG graph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Grandparents → Children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Condition inheritance map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Feeds risk + screening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2560320" cy="914400"/>
          </a:xfrm>
          <a:prstGeom prst="roundRect">
            <a:avLst>
              <a:gd name="adj" fmla="val 4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Patient Portal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Reports, Trends, Insights, Care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5303520"/>
            <a:ext cx="2560320" cy="914400"/>
          </a:xfrm>
          <a:prstGeom prst="roundRect">
            <a:avLst>
              <a:gd name="adj" fmla="val 4000"/>
            </a:avLst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Doctor Portal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Verification, Consults, Schedule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303520"/>
            <a:ext cx="2560320" cy="91440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Store Portal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Inventory, Orders, 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5303520"/>
            <a:ext cx="2468880" cy="914400"/>
          </a:xfrm>
          <a:prstGeom prst="roundRect">
            <a:avLst>
              <a:gd name="adj" fmla="val 4000"/>
            </a:avLst>
          </a:prstGeom>
          <a:solidFill>
            <a:srgbClr val="085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  <a:defRPr sz="1100" b="1">
                <a:solidFill>
                  <a:srgbClr val="FFFFFF"/>
                </a:solidFill>
              </a:defRPr>
            </a:pPr>
            <a:r>
              <a:t>Admin Panel</a:t>
            </a:r>
          </a:p>
          <a:p>
            <a:pPr algn="ctr">
              <a:spcBef>
                <a:spcPts val="100"/>
              </a:spcBef>
              <a:defRPr sz="850">
                <a:solidFill>
                  <a:srgbClr val="C8F0E8"/>
                </a:solidFill>
              </a:defRPr>
            </a:pPr>
            <a:r>
              <a:t>Users, Audit, System Info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Family Tree &amp; Health History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4-generation SVG graph · powers risk signals + screening checklists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5 / 17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011680" y="1600200"/>
            <a:ext cx="548640" cy="7315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743200" y="1600200"/>
            <a:ext cx="1097280" cy="7315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17920" y="1600200"/>
            <a:ext cx="365760" cy="7315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315200" y="1600200"/>
            <a:ext cx="182879" cy="7315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0" y="2331720"/>
            <a:ext cx="27432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0" y="2331720"/>
            <a:ext cx="1371600" cy="11887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572000" y="2331720"/>
            <a:ext cx="1371600" cy="11887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474720" y="3977639"/>
            <a:ext cx="1097280" cy="77724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3977639"/>
            <a:ext cx="1097280" cy="77724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148839" y="868680"/>
            <a:ext cx="822960" cy="82296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17373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Ramesh Mehta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194767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Segoe UI"/>
              </a:defRPr>
            </a:pPr>
            <a:r>
              <a:t>Grandfather · ~84</a:t>
            </a:r>
          </a:p>
        </p:txBody>
      </p:sp>
      <p:sp>
        <p:nvSpPr>
          <p:cNvPr id="21" name="Oval 20"/>
          <p:cNvSpPr/>
          <p:nvPr/>
        </p:nvSpPr>
        <p:spPr>
          <a:xfrm>
            <a:off x="3429000" y="868680"/>
            <a:ext cx="822960" cy="82296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17373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Unknown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194767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Segoe UI"/>
              </a:defRPr>
            </a:pPr>
            <a:r>
              <a:t>Grandmother</a:t>
            </a:r>
          </a:p>
        </p:txBody>
      </p:sp>
      <p:sp>
        <p:nvSpPr>
          <p:cNvPr id="24" name="Oval 23"/>
          <p:cNvSpPr/>
          <p:nvPr/>
        </p:nvSpPr>
        <p:spPr>
          <a:xfrm>
            <a:off x="5806440" y="868680"/>
            <a:ext cx="822960" cy="82296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17373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Unknown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194767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Segoe UI"/>
              </a:defRPr>
            </a:pPr>
            <a:r>
              <a:t>Grandmother</a:t>
            </a:r>
          </a:p>
        </p:txBody>
      </p:sp>
      <p:sp>
        <p:nvSpPr>
          <p:cNvPr id="27" name="Oval 26"/>
          <p:cNvSpPr/>
          <p:nvPr/>
        </p:nvSpPr>
        <p:spPr>
          <a:xfrm>
            <a:off x="7086599" y="868680"/>
            <a:ext cx="822960" cy="82296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17373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9" y="194767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Segoe UI"/>
              </a:defRPr>
            </a:pPr>
            <a:r>
              <a:t>Grandfather</a:t>
            </a:r>
          </a:p>
        </p:txBody>
      </p:sp>
      <p:sp>
        <p:nvSpPr>
          <p:cNvPr id="30" name="Oval 29"/>
          <p:cNvSpPr/>
          <p:nvPr/>
        </p:nvSpPr>
        <p:spPr>
          <a:xfrm>
            <a:off x="2788920" y="1600200"/>
            <a:ext cx="822960" cy="822960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24688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Suresh Mehta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26791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Segoe UI"/>
              </a:defRPr>
            </a:pPr>
            <a:r>
              <a:t>Father · 61</a:t>
            </a:r>
          </a:p>
        </p:txBody>
      </p:sp>
      <p:sp>
        <p:nvSpPr>
          <p:cNvPr id="33" name="Oval 32"/>
          <p:cNvSpPr/>
          <p:nvPr/>
        </p:nvSpPr>
        <p:spPr>
          <a:xfrm>
            <a:off x="5532120" y="1600200"/>
            <a:ext cx="822960" cy="822960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NM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4688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Nirmala Mehta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26791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Segoe UI"/>
              </a:defRPr>
            </a:pPr>
            <a:r>
              <a:t>Mother · 58</a:t>
            </a:r>
          </a:p>
        </p:txBody>
      </p:sp>
      <p:sp>
        <p:nvSpPr>
          <p:cNvPr id="36" name="Oval 35"/>
          <p:cNvSpPr/>
          <p:nvPr/>
        </p:nvSpPr>
        <p:spPr>
          <a:xfrm>
            <a:off x="4069080" y="3017520"/>
            <a:ext cx="1005840" cy="1005840"/>
          </a:xfrm>
          <a:prstGeom prst="ellipse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069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Arjun Mehta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2793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Segoe UI"/>
              </a:defRPr>
            </a:pPr>
            <a:r>
              <a:t>You · 38</a:t>
            </a:r>
          </a:p>
        </p:txBody>
      </p:sp>
      <p:sp>
        <p:nvSpPr>
          <p:cNvPr id="39" name="Oval 38"/>
          <p:cNvSpPr/>
          <p:nvPr/>
        </p:nvSpPr>
        <p:spPr>
          <a:xfrm>
            <a:off x="2514600" y="3200400"/>
            <a:ext cx="822960" cy="822960"/>
          </a:xfrm>
          <a:prstGeom prst="ellipse">
            <a:avLst/>
          </a:prstGeom>
          <a:solidFill>
            <a:srgbClr val="14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40690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Priya Shah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2793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Segoe UI"/>
              </a:defRPr>
            </a:pPr>
            <a:r>
              <a:t>Sister · 33</a:t>
            </a:r>
          </a:p>
        </p:txBody>
      </p:sp>
      <p:sp>
        <p:nvSpPr>
          <p:cNvPr id="42" name="Oval 41"/>
          <p:cNvSpPr/>
          <p:nvPr/>
        </p:nvSpPr>
        <p:spPr>
          <a:xfrm>
            <a:off x="5989320" y="3017520"/>
            <a:ext cx="822960" cy="822960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MM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38862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Mahesh Mehta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40965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Segoe UI"/>
              </a:defRPr>
            </a:pPr>
            <a:r>
              <a:t>Uncle · 57</a:t>
            </a:r>
          </a:p>
        </p:txBody>
      </p:sp>
      <p:sp>
        <p:nvSpPr>
          <p:cNvPr id="45" name="Oval 44"/>
          <p:cNvSpPr/>
          <p:nvPr/>
        </p:nvSpPr>
        <p:spPr>
          <a:xfrm>
            <a:off x="3063239" y="443484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5303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Child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551383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Segoe UI"/>
              </a:defRPr>
            </a:pPr>
            <a:r>
              <a:t>No data</a:t>
            </a:r>
          </a:p>
        </p:txBody>
      </p:sp>
      <p:sp>
        <p:nvSpPr>
          <p:cNvPr id="48" name="Oval 47"/>
          <p:cNvSpPr/>
          <p:nvPr/>
        </p:nvSpPr>
        <p:spPr>
          <a:xfrm>
            <a:off x="5257800" y="443484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53035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Child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551383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0">
                <a:solidFill>
                  <a:srgbClr val="64748B"/>
                </a:solidFill>
                <a:latin typeface="Segoe UI"/>
              </a:defRPr>
            </a:pPr>
            <a:r>
              <a:t>No data</a:t>
            </a:r>
          </a:p>
        </p:txBody>
      </p:sp>
      <p:sp>
        <p:nvSpPr>
          <p:cNvPr id="51" name="Oval 50"/>
          <p:cNvSpPr/>
          <p:nvPr/>
        </p:nvSpPr>
        <p:spPr>
          <a:xfrm>
            <a:off x="8229600" y="1325880"/>
            <a:ext cx="164592" cy="164592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200" y="12801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Grandparents (Gen 1)</a:t>
            </a:r>
          </a:p>
        </p:txBody>
      </p:sp>
      <p:sp>
        <p:nvSpPr>
          <p:cNvPr id="53" name="Oval 52"/>
          <p:cNvSpPr/>
          <p:nvPr/>
        </p:nvSpPr>
        <p:spPr>
          <a:xfrm>
            <a:off x="10241280" y="1325880"/>
            <a:ext cx="164592" cy="164592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69880" y="12801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Parents (Gen 2)</a:t>
            </a:r>
          </a:p>
        </p:txBody>
      </p:sp>
      <p:sp>
        <p:nvSpPr>
          <p:cNvPr id="55" name="Oval 54"/>
          <p:cNvSpPr/>
          <p:nvPr/>
        </p:nvSpPr>
        <p:spPr>
          <a:xfrm>
            <a:off x="8229600" y="1645920"/>
            <a:ext cx="164592" cy="164592"/>
          </a:xfrm>
          <a:prstGeom prst="ellipse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58200" y="16002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You (Gen 3)</a:t>
            </a:r>
          </a:p>
        </p:txBody>
      </p:sp>
      <p:sp>
        <p:nvSpPr>
          <p:cNvPr id="57" name="Oval 56"/>
          <p:cNvSpPr/>
          <p:nvPr/>
        </p:nvSpPr>
        <p:spPr>
          <a:xfrm>
            <a:off x="10241280" y="1645920"/>
            <a:ext cx="164592" cy="164592"/>
          </a:xfrm>
          <a:prstGeom prst="ellipse">
            <a:avLst/>
          </a:prstGeom>
          <a:solidFill>
            <a:srgbClr val="14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69880" y="16002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Siblings (Gen 3)</a:t>
            </a:r>
          </a:p>
        </p:txBody>
      </p:sp>
      <p:sp>
        <p:nvSpPr>
          <p:cNvPr id="59" name="Oval 58"/>
          <p:cNvSpPr/>
          <p:nvPr/>
        </p:nvSpPr>
        <p:spPr>
          <a:xfrm>
            <a:off x="8229600" y="1965959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8200" y="1920239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Segoe UI"/>
              </a:defRPr>
            </a:pPr>
            <a:r>
              <a:t>Children (Gen 4)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2926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Segoe UI"/>
              </a:defRPr>
            </a:pPr>
            <a:r>
              <a:t>Conditions on tree: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3291840"/>
            <a:ext cx="91440" cy="228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3291840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E293B"/>
                </a:solidFill>
                <a:latin typeface="Segoe UI"/>
              </a:rPr>
              <a:t>RM (Grandfather): </a:t>
            </a:r>
            <a:r>
              <a:rPr sz="850">
                <a:solidFill>
                  <a:srgbClr val="64748B"/>
                </a:solidFill>
                <a:latin typeface="Segoe UI"/>
              </a:rPr>
              <a:t>Type 2 Diabetes, Hypertension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0" y="3584448"/>
            <a:ext cx="91440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3584448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E293B"/>
                </a:solidFill>
                <a:latin typeface="Segoe UI"/>
              </a:rPr>
              <a:t>SM (Father): </a:t>
            </a:r>
            <a:r>
              <a:rPr sz="850">
                <a:solidFill>
                  <a:srgbClr val="64748B"/>
                </a:solidFill>
                <a:latin typeface="Segoe UI"/>
              </a:rPr>
              <a:t>Hypertension, High Cholesterol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3877056"/>
            <a:ext cx="91440" cy="228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12480" y="3877056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E293B"/>
                </a:solidFill>
                <a:latin typeface="Segoe UI"/>
              </a:rPr>
              <a:t>NM (Mother): </a:t>
            </a:r>
            <a:r>
              <a:rPr sz="850">
                <a:solidFill>
                  <a:srgbClr val="64748B"/>
                </a:solidFill>
                <a:latin typeface="Segoe UI"/>
              </a:rPr>
              <a:t>Hypothyroidism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4169664"/>
            <a:ext cx="91440" cy="228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80" y="4169664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E293B"/>
                </a:solidFill>
                <a:latin typeface="Segoe UI"/>
              </a:rPr>
              <a:t>MM (Uncle): </a:t>
            </a:r>
            <a:r>
              <a:rPr sz="850">
                <a:solidFill>
                  <a:srgbClr val="64748B"/>
                </a:solidFill>
                <a:latin typeface="Segoe UI"/>
              </a:rPr>
              <a:t>Type 2 Diabetes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0" y="4462272"/>
            <a:ext cx="91440" cy="228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12480" y="4462272"/>
            <a:ext cx="3291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E293B"/>
                </a:solidFill>
                <a:latin typeface="Segoe UI"/>
              </a:rPr>
              <a:t>You (Arjun): </a:t>
            </a:r>
            <a:r>
              <a:rPr sz="850">
                <a:solidFill>
                  <a:srgbClr val="64748B"/>
                </a:solidFill>
                <a:latin typeface="Segoe UI"/>
              </a:rPr>
              <a:t>Prehypertension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" y="534924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8680" y="5367528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Family Tree Feeds the System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" y="571500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85C4F"/>
                </a:solidFill>
                <a:latin typeface="Segoe UI"/>
              </a:defRPr>
            </a:pPr>
            <a:r>
              <a:t>Risk Engine (rules.js)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Segoe UI"/>
              </a:defRPr>
            </a:pPr>
            <a:r>
              <a:t>Family history of diabetes/cardio/cancer triggers risk signals with severity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66160" y="571500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85C4F"/>
                </a:solidFill>
                <a:latin typeface="Segoe UI"/>
              </a:defRPr>
            </a:pPr>
            <a:r>
              <a:t>Screening Checklist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6616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Segoe UI"/>
              </a:defRPr>
            </a:pPr>
            <a:r>
              <a:t>recommend.js: cancer history, cardiovascular family → screening items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17920" y="571500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85C4F"/>
                </a:solidFill>
                <a:latin typeface="Segoe UI"/>
              </a:defRPr>
            </a:pPr>
            <a:r>
              <a:t>Insights Aggregation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Segoe UI"/>
              </a:defRPr>
            </a:pPr>
            <a:r>
              <a:t>insights.js: family conditions mapped to normalized risk categories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571500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85C4F"/>
                </a:solidFill>
                <a:latin typeface="Segoe UI"/>
              </a:defRPr>
            </a:pPr>
            <a:r>
              <a:t>AI Assistant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69680" y="5943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  <a:latin typeface="Segoe UI"/>
              </a:defRPr>
            </a:pPr>
            <a:r>
              <a:t>assistant.js: answers questions about family health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Critical Gaps for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What blocks real-user launch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6 /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109728" cy="32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Segoe UI"/>
              </a:defRPr>
            </a:pPr>
            <a:r>
              <a:t>CRITICAL  —  Blocks Launch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45920"/>
          <a:ext cx="10698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657600"/>
                <a:gridCol w="2011680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Gap</a:t>
                      </a:r>
                    </a:p>
                  </a:txBody>
                  <a:tcPr anchor="ctr">
                    <a:solidFill>
                      <a:srgbClr val="0D7C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D7C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Effort</a:t>
                      </a:r>
                    </a:p>
                  </a:txBody>
                  <a:tcPr anchor="ctr">
                    <a:solidFill>
                      <a:srgbClr val="0D7C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relational DB (JSON writes won’t scale)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Data corruption, no concurrency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HTTPS enforcement (Secure cookies missing)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Session hijacking, MITM risk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 hrs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password reset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Users locked out permanently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hrs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email notifications (reminders, SOS, consults)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Core features silent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hrs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observability (logs, metrics, alerts)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Blind in production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31520" y="3840480"/>
            <a:ext cx="109728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Segoe UI"/>
              </a:defRPr>
            </a:pPr>
            <a:r>
              <a:t>HIGH  —  Degrades Experience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4206240"/>
          <a:ext cx="10698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657600"/>
                <a:gridCol w="2011680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Gap</a:t>
                      </a:r>
                    </a:p>
                  </a:txBody>
                  <a:tcPr anchor="ctr">
                    <a:solidFill>
                      <a:srgbClr val="0D7C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D7C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Effort</a:t>
                      </a:r>
                    </a:p>
                  </a:txBody>
                  <a:tcPr anchor="ctr">
                    <a:solidFill>
                      <a:srgbClr val="0D7C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MFA (multi-factor authentication)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Credential stuffing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hrs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CSRF protection on mutating endpoints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State-changing attacks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 hrs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family sharing (invite links)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Major user value missing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 hrs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load testing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Unknown capacity at scale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 hrs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legal docs (Privacy, Terms, DPA)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Compliance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 hrs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Day 1 — Infrastructure &amp; Database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6–8 hours  ·  Deliverable: staging URL with migrated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7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MORNING  (3–4 hrs)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20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Provision Supabase project (Postgres + Storage)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6771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677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Create Cloudinary account (signed uploads, free tier)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15184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61518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Design Postgres schema — 30 relational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626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6265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Write migration script: JSON → relational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1012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3101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Test migration locally with existing seed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576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576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Verify: all data queryable, indexes in place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280160"/>
            <a:ext cx="52120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41732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AFTERNOON  (3–4 hrs)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20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920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Deploy to Railway / Render (persistent VM)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6771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2677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Configure custom domain + TLS (Caddy auto-HTTPS)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15184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61518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Set ALL production environment variables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626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96265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Enable Supabase PITR (point-in-time recovery)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31012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3101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Verify /api/health works end-to-end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6576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6576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Test file upload → Supabase Storage → download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  <a:latin typeface="Segoe UI"/>
              </a:defRPr>
            </a:pPr>
            <a:r>
              <a:t>Key files to create: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scripts/migrate-to-postgres.mjs  ·  backend/lib/db.js (rewrite)  ·  backend/lib/schema.sql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Day 2 — Auth Hardening &amp;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6–8 hours  ·  Deliverable: password reset + emails 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8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SECURITY  (3–4 hrs)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20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Add "Secure" cookie flag (auto on HTTPS)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6771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677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Add HSTS header: max-age=31536000; preload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15184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61518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Implement CSRF tokens (double-submit pattern)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626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6265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Rate limit: 5/min auth, 30/min uploads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1012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3101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Run npm audit + fix vulnerabilities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576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576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OWASP ZAP baseline scan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28016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41732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EMAIL  (3–4 hrs)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20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920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Create Resend account (3k emails/mo free)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6771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2677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POST /api/auth/forgot-password — signed JWT 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15184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61518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POST /api/auth/reset-password — validates, updates hash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626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96265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Email templates: reset, welcome, consult, reminder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31012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3101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SOS alert email to primary 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6576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6576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Test full reset flow + delivery to inbox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86400"/>
            <a:ext cx="10698480" cy="82296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32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New env vars: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RESEND_API_KEY  ·  EMAIL_FROM  ·  APP_URL  ·  CSRF_SECRET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Day 3 — MFA + Family Sharing +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6–8 hours  ·  Deliverable: MFA, invites, logs/metrics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9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3474720" cy="41148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MFA (TOTP)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1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87451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Add otplib for TOTP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7743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3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POST /api/auth/mfa/enable — QR + backup 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80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POST /api/auth/mfa/verify — enable on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832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3832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POST /api/auth/mfa/disable — requires TOTP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8862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Modify loginUser: require TOTP if enabled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891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Settings UI: show QR, manage backup codes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128016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59" y="1280160"/>
            <a:ext cx="3474720" cy="41148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19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Family Sharing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39" y="187451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59" y="187451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POST /api/family/invite — signed token (7d)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237743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237743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Email invite link to family 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39" y="2880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59" y="28803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GET /api/family/accept/:token — link accounts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39" y="33832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33832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Consent flags: viewer / editor roles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39" y="38862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59" y="38862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UI: Invite button in views-family.js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39" y="43891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59" y="43891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Accept page: onboarding + consent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1280160"/>
            <a:ext cx="347472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1280160"/>
            <a:ext cx="347472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60" y="12984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Observability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187451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187451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pino structured logging (req ID, latency)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377439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237743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Ship logs to Better Stack (free tier)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880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28803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Sentry error tracking (free tier)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38328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3832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Custom metrics: users, uploads, consults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8862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8862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UptimeRobot: /api/health every 60s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3891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3891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Alert: 3 consecutive failures → Slack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806440"/>
            <a:ext cx="10698480" cy="5029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585216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1">
                <a:solidFill>
                  <a:srgbClr val="3B82F6"/>
                </a:solidFill>
                <a:latin typeface="Segoe UI"/>
              </a:defRPr>
            </a:pPr>
            <a:r>
              <a:t>Env: SENTRY_DSN  ·  BETTER_STACK_SOURCE_TOKEN  ·  BETTER_STACK_INGEST_HOST  ·  UPTIMEROBOT_API_KEY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Day 4 — Polish, Load Test &amp;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6–8 hours  ·  Deliverable: load test pass, legal docs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10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QUALITY  (3–4 hrs)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20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axe-core accessibility audit → WCAG 2.1 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6771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677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Onboarding flow: welcome → profile →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15184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61518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Mobile responsiveness fixes (iOS Safari, Android)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626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6265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Service Worker update strategy (versioned cache)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1012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3101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k6 load test: 100 VUs, p95 &lt; 500ms, err &lt; 0.1%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576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576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Add DB indexes + connection pooling if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28016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41732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LEGAL &amp;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20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920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Privacy Policy (termly.io or manual draft)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6771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2677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Terms of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15184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61518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GDPR: DPA with Supabase + Cloudinary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626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96265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Data Protection Impact Assessment (DPIA)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31012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3101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Medical disclaimer review (footer)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6576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6576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Incident response runbook (1-pager)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86400"/>
            <a:ext cx="10698480" cy="8229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88EECC"/>
                </a:solidFill>
                <a:latin typeface="Consolas"/>
              </a:defRPr>
            </a:pPr>
            <a:r>
              <a:t>Run load test: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k6 run scripts/load-test.js -e BASE_URL=https://staging.healthsphere.ai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Day 5 — Buffer +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4–6 hours  ·  Deliverable: LIVE FOR REAL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11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1920240" cy="256032"/>
          </a:xfrm>
          <a:prstGeom prst="roundRect">
            <a:avLst>
              <a:gd name="adj" fmla="val 50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MORNING  (2–3 hrs)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20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GitHub Actions CI/CD: lint → test →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6771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2677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Playwright smoke tests: auth, upload, consult, 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15184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61518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Rollback plan documented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9626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6265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  — Supabase PITR + instant 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1012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3101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Pre-launch smoke test on staging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576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576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Team on-call roster confirmed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28016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41732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AFTERNOON  (2–3 hrs)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2024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9202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PRODUCTION DEPLOY -&gt;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67712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2677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Post-deploy verification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615184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61518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Monitor for 2 hours (Sentry, Better Stack)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62656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96265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DNS switch + SSL verification (A+ grade)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310128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3101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Smoke test all roles: patient, doctor,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65760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egoe UI"/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6576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Hand-off doc: runbooks, contacts, escalation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86400"/>
            <a:ext cx="10698480" cy="82296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32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Go / No-Go Criteria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1E293B"/>
                </a:solidFill>
                <a:latin typeface="Segoe UI"/>
              </a:defRPr>
            </a:pPr>
            <a:r>
              <a:t>Uptime 99.9%  ·  API p95 &lt; 500ms  ·  Error rate &lt; 0.1%  ·  0 OWASP High/Critical  ·  0 axe violations  ·  Load test pass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Database Migration: JSON → Relational Postgres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30 tables, indexed queries, transaction-safe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12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029200" cy="109728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25880"/>
            <a:ext cx="4572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Segoe UI"/>
              </a:defRPr>
            </a:pPr>
            <a:r>
              <a:t>BEFORE: JSON blob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1E293B"/>
                </a:solidFill>
                <a:latin typeface="Segoe UI"/>
              </a:defRPr>
            </a:pPr>
            <a:r>
              <a:t>Single jsonb row in Supabase. Every write = full state rewrite. No indexes, no concurrent access, no query planner.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212080" cy="109728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AFTER: 30 relational tables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1E293B"/>
                </a:solidFill>
                <a:latin typeface="Segoe UI"/>
              </a:defRPr>
            </a:pPr>
            <a:r>
              <a:t>Proper schema, indexed queries, concurrent writes, query planner optimization, ACID transactions.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2286000" cy="384048"/>
          </a:xfrm>
          <a:prstGeom prst="roundRect">
            <a:avLst>
              <a:gd name="adj" fmla="val 4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761488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Core Users (4)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889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users, sessions, profiles, family_members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18688"/>
            <a:ext cx="2286000" cy="384048"/>
          </a:xfrm>
          <a:prstGeom prst="roundRect">
            <a:avLst>
              <a:gd name="adj" fmla="val 4000"/>
            </a:avLst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36976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Health Data (4)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6440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reports, metrics, lifestyle_logs, plans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94176"/>
            <a:ext cx="2286000" cy="384048"/>
          </a:xfrm>
          <a:prstGeom prst="roundRect">
            <a:avLst>
              <a:gd name="adj" fmla="val 4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12464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Care Team (4)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39896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doctors, contacts, reminders, sos_alerts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9664"/>
            <a:ext cx="2286000" cy="384048"/>
          </a:xfrm>
          <a:prstGeom prst="roundRect">
            <a:avLst>
              <a:gd name="adj" fmla="val 4000"/>
            </a:avLst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87952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Settings (3)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215384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settings, audit_logs, feedback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645152"/>
            <a:ext cx="2286000" cy="384048"/>
          </a:xfrm>
          <a:prstGeom prst="roundRect">
            <a:avLst>
              <a:gd name="adj" fmla="val 4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Multi-role (3)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69087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doctor_accounts, store_owner_accounts, stores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120640"/>
            <a:ext cx="2286000" cy="384048"/>
          </a:xfrm>
          <a:prstGeom prst="roundRect">
            <a:avLst>
              <a:gd name="adj" fmla="val 4000"/>
            </a:avLst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38928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Consultations (3)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1663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consult_tickets, consult_appointments, consult_messages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596128"/>
            <a:ext cx="2286000" cy="384048"/>
          </a:xfrm>
          <a:prstGeom prst="roundRect">
            <a:avLst>
              <a:gd name="adj" fmla="val 4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14416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Invites (1)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641848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family_invites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943600"/>
            <a:ext cx="5212080" cy="457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96188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EECC"/>
                </a:solidFill>
                <a:latin typeface="Consolas"/>
              </a:defRPr>
            </a:pPr>
            <a:r>
              <a:t>idx_metrics(user_id,key,date)  ·  idx_audit(user_id,ts)  ·  idx_reports(user_id,uploaded_at)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Security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Defense-in-depth for health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13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212080" cy="36576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9844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Transport &amp; Headers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846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nsolas"/>
              </a:defRPr>
            </a:pPr>
            <a:r>
              <a:t>Strict-Transport-Security: max-age=31536000; preload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Consolas"/>
              </a:defRPr>
            </a:pPr>
            <a:r>
              <a:t>Content-Security-Policy: default-src 'self' ...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Consolas"/>
              </a:defRPr>
            </a:pPr>
            <a:r>
              <a:t>X-Content-Type-Options: nosniff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Consolas"/>
              </a:defRPr>
            </a:pPr>
            <a:r>
              <a:t>X-Frame-Options: DENY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Consolas"/>
              </a:defRPr>
            </a:pPr>
            <a:r>
              <a:t>Referrer-Policy: strict-origin-when-cross-origin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900" b="0">
                <a:solidFill>
                  <a:srgbClr val="64748B"/>
                </a:solidFill>
                <a:latin typeface="Consolas"/>
              </a:defRPr>
            </a:pPr>
            <a:r>
              <a:t>Cookies: HttpOnly + Secure + SameSite=Lax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212080" cy="36576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9844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Auth Upgrades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Password Reset: </a:t>
            </a:r>
            <a:r>
              <a:rPr sz="1000">
                <a:solidFill>
                  <a:srgbClr val="64748B"/>
                </a:solidFill>
                <a:latin typeface="Segoe UI"/>
              </a:rPr>
              <a:t>Signed JWT, 15-min expiry, email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75688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MFA (TOTP): </a:t>
            </a:r>
            <a:r>
              <a:rPr sz="1000">
                <a:solidFill>
                  <a:srgbClr val="64748B"/>
                </a:solidFill>
                <a:latin typeface="Segoe UI"/>
              </a:rPr>
              <a:t>otplib, QR code, 8 backup codes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68296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Session Security: </a:t>
            </a:r>
            <a:r>
              <a:rPr sz="1000">
                <a:solidFill>
                  <a:srgbClr val="64748B"/>
                </a:solidFill>
                <a:latin typeface="Segoe UI"/>
              </a:rPr>
              <a:t>7-day expiry, revoke on password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6090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Rate Limiting: </a:t>
            </a:r>
            <a:r>
              <a:rPr sz="1000">
                <a:solidFill>
                  <a:srgbClr val="64748B"/>
                </a:solidFill>
                <a:latin typeface="Segoe UI"/>
              </a:rPr>
              <a:t>5/min auth, 30/min uploads, 10/min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53512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CSRF Tokens: </a:t>
            </a:r>
            <a:r>
              <a:rPr sz="1000">
                <a:solidFill>
                  <a:srgbClr val="64748B"/>
                </a:solidFill>
                <a:latin typeface="Segoe UI"/>
              </a:rPr>
              <a:t>Double-submit cookie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4612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E293B"/>
                </a:solidFill>
                <a:latin typeface="Segoe UI"/>
              </a:rPr>
              <a:t>Audit Logging: </a:t>
            </a:r>
            <a:r>
              <a:rPr sz="1000">
                <a:solidFill>
                  <a:srgbClr val="64748B"/>
                </a:solidFill>
                <a:latin typeface="Segoe UI"/>
              </a:rPr>
              <a:t>Every auth action recorded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749039"/>
            <a:ext cx="13716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7490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Segoe UI"/>
              </a:defRPr>
            </a:pPr>
            <a:r>
              <a:t>Layer 1: Transport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74903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Segoe UI"/>
              </a:defRPr>
            </a:pPr>
            <a:r>
              <a:t>TLS 1.3, HSTS, Secure cookies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87952"/>
            <a:ext cx="137160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879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Segoe UI"/>
              </a:defRPr>
            </a:pPr>
            <a:r>
              <a:t>Layer 2: 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187952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Segoe UI"/>
              </a:defRPr>
            </a:pPr>
            <a:r>
              <a:t>Validation, sanitization, CSRF tokens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626864"/>
            <a:ext cx="137160" cy="36576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26864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Segoe UI"/>
              </a:defRPr>
            </a:pPr>
            <a:r>
              <a:t>Layer 3: 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626864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Segoe UI"/>
              </a:defRPr>
            </a:pPr>
            <a:r>
              <a:t>scrypt, MFA, rate limiting, session mgmt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065775"/>
            <a:ext cx="137160" cy="36576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065775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Segoe UI"/>
              </a:defRPr>
            </a:pPr>
            <a:r>
              <a:t>Layer 4: Authorization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065775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Segoe UI"/>
              </a:defRPr>
            </a:pPr>
            <a:r>
              <a:t>Role-based access, admin-only checks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504688"/>
            <a:ext cx="137160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50468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Segoe UI"/>
              </a:defRPr>
            </a:pPr>
            <a:r>
              <a:t>Layer 5: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50468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Segoe UI"/>
              </a:defRPr>
            </a:pPr>
            <a:r>
              <a:t>Encryption at rest, PII minimization, audit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943600"/>
            <a:ext cx="13716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943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Segoe UI"/>
              </a:defRPr>
            </a:pPr>
            <a:r>
              <a:t>Layer 6: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Segoe UI"/>
              </a:defRPr>
            </a:pPr>
            <a:r>
              <a:t>CSP headers, XSS prevention, prompt-injection guard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Observability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Logs, metrics, error tracking, uptime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14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2606040" cy="41148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29844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Segoe UI"/>
              </a:defRPr>
            </a:pPr>
            <a:r>
              <a:t>pino → Better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Structured JSON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14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Request ID propagation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803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User context (no PII)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Latency per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Free tier: 1GB/mo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128016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1280160"/>
            <a:ext cx="2606040" cy="4114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129844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Error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173736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Segoe UI"/>
              </a:defRPr>
            </a:pPr>
            <a:r>
              <a:t>Sentry (free tier)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Auto-capture exceptions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2514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Source maps in CI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28803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Alert on new error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3246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Breadcrumb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Free tier: 5K errors/mo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28016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280160"/>
            <a:ext cx="2606040" cy="41148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29844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173736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Segoe UI"/>
              </a:defRPr>
            </a:pPr>
            <a:r>
              <a:t>Custom + Better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api_latency_p95 &lt; 500ms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514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api_error_rate &lt; 0.1%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8803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active_users_24h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246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report_uploads_total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consult_volume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1280160"/>
            <a:ext cx="26060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1280160"/>
            <a:ext cx="260604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1298448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173736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Segoe UI"/>
              </a:defRPr>
            </a:pPr>
            <a:r>
              <a:t>UptimeRobot (free tier)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1488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/api/health every 60s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514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Alert: 3 failures → Slack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28803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Status page for users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2461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SSL expiry monitoring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3611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•  50 monitors free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53212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57784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88EECC"/>
                </a:solidFill>
                <a:latin typeface="Consolas"/>
              </a:defRPr>
            </a:pPr>
            <a:r>
              <a:t>Sample structured log: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50" b="0">
                <a:solidFill>
                  <a:srgbClr val="E2E8F0"/>
                </a:solidFill>
                <a:latin typeface="Consolas"/>
              </a:defRPr>
            </a:pPr>
            <a:r>
              <a:t>{"level":"info","reqId":"abc123","userId":"usr_xyz","method":"POST","path":"/api/reports","status":200,"latencyMs":142}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Launch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Go / No-Go criteria before production 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15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801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Unit tests pass (npm 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Migration verified — all data queryable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File upload: PDF → Cloud → download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517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6517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Auth flow: register → login → MFA → reset → logout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089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Email delivery confirmed (reset, welcome, SOS)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661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Family invite link works and expires correctly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233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Admin panel: users, drill-down, audit,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805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Doctor + Store portals functional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377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Accessibility: 0 WCAG 2.1 AA violations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949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Load test: 100 VUs, p95 &lt; 500ms, error &lt; 0.1%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2801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12801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Security scan: 0 OWASP High/Critical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737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7373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SSL Labs grade A+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945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1945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All env vars set (no .env files in prod)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6517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6517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Supabase PITR enabled + restore tested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108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1089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Better Stack alerts configured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5661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5661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Sentry error rate &lt; 0.1%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0233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0233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UptimeRobot monitor active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4805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4805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Rollback plan tested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9377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9377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Legal pages live (/privacy, /terms)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39496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3949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Segoe UI"/>
              </a:defRPr>
            </a:pPr>
            <a:r>
              <a:t>Team on-call for 4 hours post-launch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943600"/>
            <a:ext cx="10698480" cy="4572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680" y="5961888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✓  ALL CHECKS PASSED  —  READY FOR PRODUCTION DEPLOY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0040"/>
            <a:ext cx="109728" cy="50292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56032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085C4F"/>
                </a:solidFill>
                <a:latin typeface="Segoe UI"/>
              </a:defRPr>
            </a:pPr>
            <a:r>
              <a:t>Post-Launch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713232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Week 2 → Quarter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16 / 17</a:t>
            </a:r>
          </a:p>
        </p:txBody>
      </p:sp>
      <p:sp>
        <p:nvSpPr>
          <p:cNvPr id="9" name="Oval 8"/>
          <p:cNvSpPr/>
          <p:nvPr/>
        </p:nvSpPr>
        <p:spPr>
          <a:xfrm>
            <a:off x="1737360" y="13716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572768"/>
            <a:ext cx="237744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Stabilize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Monitor, fix bugs, gather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User feedback collection (in-app + email)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Performance optimization from real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Bug fixes from launch week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1371600"/>
            <a:ext cx="457200" cy="457200"/>
          </a:xfrm>
          <a:prstGeom prst="ellipse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572768"/>
            <a:ext cx="237744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66160" y="210312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19456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D7C6B"/>
                </a:solidFill>
                <a:latin typeface="Segoe UI"/>
              </a:defRPr>
            </a:pPr>
            <a:r>
              <a:t>Week 2-4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4688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Core Enhancements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FHIR export for clinical interoperability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520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Mobile app via Capacitor wrapper (iOS/Android)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Doctor portal: schedule, prescriptions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Pharmacy integration (eRx standards)</a:t>
            </a:r>
          </a:p>
        </p:txBody>
      </p:sp>
      <p:sp>
        <p:nvSpPr>
          <p:cNvPr id="27" name="Oval 26"/>
          <p:cNvSpPr/>
          <p:nvPr/>
        </p:nvSpPr>
        <p:spPr>
          <a:xfrm>
            <a:off x="7406640" y="1371600"/>
            <a:ext cx="457200" cy="457200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1572768"/>
            <a:ext cx="237744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0" y="210312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19456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57B8"/>
                </a:solidFill>
                <a:latin typeface="Segoe UI"/>
              </a:defRPr>
            </a:pPr>
            <a:r>
              <a:t>Month 2-3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4688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Scale &amp; Differentiate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Insurance claims helper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520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AI insights v2 (fine-tuned on data)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Multi-language (i18next)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Enterprise: SSO, audit API, white-label</a:t>
            </a:r>
          </a:p>
        </p:txBody>
      </p:sp>
      <p:sp>
        <p:nvSpPr>
          <p:cNvPr id="36" name="Oval 35"/>
          <p:cNvSpPr/>
          <p:nvPr/>
        </p:nvSpPr>
        <p:spPr>
          <a:xfrm>
            <a:off x="10241280" y="13716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2103120"/>
            <a:ext cx="260604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2194560"/>
            <a:ext cx="2331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Quarter 2+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468880"/>
            <a:ext cx="2331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Long-term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Wearable integrations (Fitbit, Apple Health)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3520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Telemedicine video calls (WebRTC)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114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Insurance claim automation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709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Segoe UI"/>
              </a:defRPr>
            </a:pPr>
            <a:r>
              <a:t>•  Regional expansion (multi-country)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85C4F"/>
                </a:solidFill>
                <a:latin typeface="Segoe UI"/>
              </a:defRPr>
            </a:pPr>
            <a:r>
              <a:t>Summary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4-5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E0F7F0"/>
                </a:solidFill>
                <a:latin typeface="Segoe UI"/>
              </a:defRPr>
            </a:pPr>
            <a:r>
              <a:t>From MVP to</a:t>
            </a:r>
            <a:br/>
            <a:r>
              <a:t>production-ready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E0F7F0"/>
                </a:solidFill>
                <a:latin typeface="Segoe U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3657600" y="137160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08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30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E0F7F0"/>
                </a:solidFill>
                <a:latin typeface="Segoe UI"/>
              </a:defRPr>
            </a:pPr>
            <a:r>
              <a:t>JSON blob →</a:t>
            </a:r>
            <a:br/>
            <a:r>
              <a:t>relational Postgres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E0F7F0"/>
                </a:solidFill>
                <a:latin typeface="Segoe U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08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100 VUs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E0F7F0"/>
                </a:solidFill>
                <a:latin typeface="Segoe UI"/>
              </a:defRPr>
            </a:pPr>
            <a:r>
              <a:t>Load tested</a:t>
            </a:r>
            <a:br/>
            <a:r>
              <a:t>p95 &lt; 500ms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E0F7F0"/>
                </a:solidFill>
                <a:latin typeface="Segoe U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8778239" y="137160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39" y="15087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99.9%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39" y="21488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E0F7F0"/>
                </a:solidFill>
                <a:latin typeface="Segoe UI"/>
              </a:defRPr>
            </a:pPr>
            <a:r>
              <a:t>Target uptime</a:t>
            </a:r>
            <a:br/>
            <a:r>
              <a:t>with monitoring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E0F7F0"/>
                </a:solidFill>
                <a:latin typeface="Segoe U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731520" y="3017520"/>
            <a:ext cx="1069848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017520"/>
            <a:ext cx="10698480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35808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Decisions Needed Before Day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204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D7C6B"/>
                </a:solidFill>
                <a:latin typeface="Segoe UI"/>
              </a:rPr>
              <a:t>1. </a:t>
            </a:r>
            <a:r>
              <a:rPr sz="1050">
                <a:solidFill>
                  <a:srgbClr val="1E293B"/>
                </a:solidFill>
                <a:latin typeface="Segoe UI"/>
              </a:rPr>
              <a:t>Hosting target: Railway/Render (VM) vs Vercel (serverless)?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40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D7C6B"/>
                </a:solidFill>
                <a:latin typeface="Segoe UI"/>
              </a:rPr>
              <a:t>2. </a:t>
            </a:r>
            <a:r>
              <a:rPr sz="1050">
                <a:solidFill>
                  <a:srgbClr val="1E293B"/>
                </a:solidFill>
                <a:latin typeface="Segoe UI"/>
              </a:rPr>
              <a:t>Email provider: Resend (recommended) vs SendGrid vs AWS SES?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605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D7C6B"/>
                </a:solidFill>
                <a:latin typeface="Segoe UI"/>
              </a:rPr>
              <a:t>3. </a:t>
            </a:r>
            <a:r>
              <a:rPr sz="1050">
                <a:solidFill>
                  <a:srgbClr val="1E293B"/>
                </a:solidFill>
                <a:latin typeface="Segoe UI"/>
              </a:rPr>
              <a:t>MFA optional for patients, required for admins?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805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D7C6B"/>
                </a:solidFill>
                <a:latin typeface="Segoe UI"/>
              </a:rPr>
              <a:t>4. </a:t>
            </a:r>
            <a:r>
              <a:rPr sz="1050">
                <a:solidFill>
                  <a:srgbClr val="1E293B"/>
                </a:solidFill>
                <a:latin typeface="Segoe UI"/>
              </a:rPr>
              <a:t>Family sharing default role: Viewer or Editor?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0698480" cy="1005840"/>
          </a:xfrm>
          <a:prstGeom prst="roundRect">
            <a:avLst>
              <a:gd name="adj" fmla="val 4000"/>
            </a:avLst>
          </a:prstGeom>
          <a:solidFill>
            <a:srgbClr val="0D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03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START DAY 1 NOW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C8F0E8"/>
                </a:solidFill>
                <a:latin typeface="Segoe UI"/>
              </a:defRPr>
            </a:pPr>
            <a:r>
              <a:t>Provision Supabase  ·  Run migration script  ·  Deploy to staging  ·  Launch in 5 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92240"/>
            <a:ext cx="110642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Segoe UI"/>
              </a:defRPr>
            </a:pPr>
            <a:r>
              <a:t>HealthSphere AI  ·  Production Readiness Sprint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Segoe UI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