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0B981"/>
                </a:solidFill>
              </a:defRPr>
            </a:pPr>
            <a:r>
              <a:t>CAPSTONE / PROJECT REVIEW 2</a:t>
            </a:r>
          </a:p>
          <a:p>
            <a:pPr>
              <a:spcAft>
                <a:spcPts val="600"/>
              </a:spcAft>
              <a:defRPr sz="4400" b="1">
                <a:solidFill>
                  <a:srgbClr val="FFFFFF"/>
                </a:solidFill>
              </a:defRPr>
            </a:pPr>
            <a:r>
              <a:t>HealthSphere AI</a:t>
            </a:r>
          </a:p>
          <a:p>
            <a:pPr>
              <a:spcAft>
                <a:spcPts val="2800"/>
              </a:spcAft>
              <a:defRPr sz="2000">
                <a:solidFill>
                  <a:srgbClr val="BAE6FD"/>
                </a:solidFill>
              </a:defRPr>
            </a:pPr>
            <a:r>
              <a:t>Privacy-First Family Health Intelligence, Tele-Consultation &amp; Pharmacy Ecosystem</a:t>
            </a:r>
          </a:p>
          <a:p>
            <a:pPr>
              <a:spcAft>
                <a:spcPts val="3600"/>
              </a:spcAft>
              <a:defRPr sz="1200">
                <a:solidFill>
                  <a:srgbClr val="94A3B8"/>
                </a:solidFill>
              </a:defRPr>
            </a:pPr>
            <a:r>
              <a:t>Focus Areas: Full System Implementation • PostgreSQL Persistence • Doctor Consultation Flow • Store CRUD • Progress &amp; Outcomes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Project Domain: Healthcare Informatics • Zero-Dependency Intelligence • Full-Stack Web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284C7"/>
                </a:solidFill>
              </a:defRPr>
            </a:pPr>
            <a:r>
              <a:t>HEALTHSPHERE AI — PROJECT REVIEW 2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Executive Summary &amp;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E11D48"/>
                </a:solidFill>
              </a:defRPr>
            </a:pPr>
            <a:r>
              <a:t>THE PROBLEM WE ARE SOLVING</a:t>
            </a:r>
          </a:p>
          <a:p>
            <a:pPr>
              <a:spcAft>
                <a:spcPts val="1000"/>
              </a:spcAft>
              <a:defRPr b="1" sz="1200">
                <a:solidFill>
                  <a:srgbClr val="1E293B"/>
                </a:solidFill>
              </a:defRPr>
            </a:pPr>
            <a:r>
              <a:t>• Fragmented Health Records:</a:t>
            </a:r>
            <a:r>
              <a:rPr b="0">
                <a:solidFill>
                  <a:srgbClr val="64748B"/>
                </a:solidFill>
              </a:rPr>
              <a:t> Patients hold lab reports in scattered PDFs, paper slips, and messages with zero longitudinal aggregation.</a:t>
            </a:r>
          </a:p>
          <a:p>
            <a:pPr>
              <a:spcAft>
                <a:spcPts val="1000"/>
              </a:spcAft>
              <a:defRPr b="1" sz="1200">
                <a:solidFill>
                  <a:srgbClr val="1E293B"/>
                </a:solidFill>
              </a:defRPr>
            </a:pPr>
            <a:r>
              <a:t>• Familial Blindspots:</a:t>
            </a:r>
            <a:r>
              <a:rPr b="0">
                <a:solidFill>
                  <a:srgbClr val="64748B"/>
                </a:solidFill>
              </a:rPr>
              <a:t> Hereditary risks (cardiovascular, diabetes, oncological) are rarely correlated across genealogical generations.</a:t>
            </a:r>
          </a:p>
          <a:p>
            <a:pPr>
              <a:spcAft>
                <a:spcPts val="1000"/>
              </a:spcAft>
              <a:defRPr b="1" sz="1200">
                <a:solidFill>
                  <a:srgbClr val="1E293B"/>
                </a:solidFill>
              </a:defRPr>
            </a:pPr>
            <a:r>
              <a:t>• Cloud Privacy Risks:</a:t>
            </a:r>
            <a:r>
              <a:rPr b="0">
                <a:solidFill>
                  <a:srgbClr val="64748B"/>
                </a:solidFill>
              </a:rPr>
              <a:t> Modern cloud AI solutions stream sensitive clinical data to third-party LLMs, causing regulatory and privacy breaches.</a:t>
            </a:r>
          </a:p>
          <a:p>
            <a:pPr>
              <a:spcAft>
                <a:spcPts val="1000"/>
              </a:spcAft>
              <a:defRPr b="1" sz="1200">
                <a:solidFill>
                  <a:srgbClr val="1E293B"/>
                </a:solidFill>
              </a:defRPr>
            </a:pPr>
            <a:r>
              <a:t>• Disconnected Ecosystem:</a:t>
            </a:r>
            <a:r>
              <a:rPr b="0">
                <a:solidFill>
                  <a:srgbClr val="64748B"/>
                </a:solidFill>
              </a:rPr>
              <a:t> Patients must juggle separate apps for report analysis, physician consultation, and prescription procurement.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E7490"/>
                </a:solidFill>
              </a:defRPr>
            </a:pPr>
            <a:r>
              <a:t>THE HEALTHSPHERE AI SOLUTION</a:t>
            </a:r>
          </a:p>
          <a:p>
            <a:pPr>
              <a:spcAft>
                <a:spcPts val="1000"/>
              </a:spcAft>
              <a:defRPr b="1" sz="1200">
                <a:solidFill>
                  <a:srgbClr val="1E293B"/>
                </a:solidFill>
              </a:defRPr>
            </a:pPr>
            <a:r>
              <a:t>✓ Zero-Dependency On-Device Intelligence:</a:t>
            </a:r>
            <a:r>
              <a:rPr b="0">
                <a:solidFill>
                  <a:srgbClr val="64748B"/>
                </a:solidFill>
              </a:rPr>
              <a:t> All extraction, reference flagging, and risk analysis execute locally on the server—zero external API reliance.</a:t>
            </a:r>
          </a:p>
          <a:p>
            <a:pPr>
              <a:spcAft>
                <a:spcPts val="1000"/>
              </a:spcAft>
              <a:defRPr b="1" sz="1200">
                <a:solidFill>
                  <a:srgbClr val="1E293B"/>
                </a:solidFill>
              </a:defRPr>
            </a:pPr>
            <a:r>
              <a:t>✓ Interactive Family Pedigree Engine:</a:t>
            </a:r>
            <a:r>
              <a:rPr b="0">
                <a:solidFill>
                  <a:srgbClr val="64748B"/>
                </a:solidFill>
              </a:rPr>
              <a:t> 3-generation family health tree visualizing genetic predispositions and multi-generational risk vectors.</a:t>
            </a:r>
          </a:p>
          <a:p>
            <a:pPr>
              <a:spcAft>
                <a:spcPts val="1000"/>
              </a:spcAft>
              <a:defRPr b="1" sz="1200">
                <a:solidFill>
                  <a:srgbClr val="1E293B"/>
                </a:solidFill>
              </a:defRPr>
            </a:pPr>
            <a:r>
              <a:t>✓ Integrated Tele-Consultation Hub:</a:t>
            </a:r>
            <a:r>
              <a:rPr b="0">
                <a:solidFill>
                  <a:srgbClr val="64748B"/>
                </a:solidFill>
              </a:rPr>
              <a:t> Direct &amp; pool-based ticket routing to verified specialists with active chat rooms and schedule sync.</a:t>
            </a:r>
          </a:p>
          <a:p>
            <a:pPr>
              <a:spcAft>
                <a:spcPts val="1000"/>
              </a:spcAft>
              <a:defRPr b="1" sz="1200">
                <a:solidFill>
                  <a:srgbClr val="1E293B"/>
                </a:solidFill>
              </a:defRPr>
            </a:pPr>
            <a:r>
              <a:t>✓ Verified Pharmacy Network:</a:t>
            </a:r>
            <a:r>
              <a:rPr b="0">
                <a:solidFill>
                  <a:srgbClr val="64748B"/>
                </a:solidFill>
              </a:rPr>
              <a:t> Direct medicine catalogue browsing, inventory CRUD for store owners, and prescription-bound dispensing.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284C7"/>
                </a:solidFill>
              </a:defRPr>
            </a:pPr>
            <a:r>
              <a:t>HEALTHSPHERE AI — PROJECT REVIEW 2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Milestone Tracking: Review 1 Baseline vs. Review 2 Delivery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64748B"/>
                </a:solidFill>
              </a:defRPr>
            </a:pPr>
            <a:r>
              <a:t>REVIEW 1 (FOUNDATION BASELINE)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Basic mock UI wireframes &amp; static prototypes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Initial JSON file-based database prototype (`db.json`)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Single patient account demo with static reports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Basic text regex parser without OCR integration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Conceptual designs for consultation and pharmacy modules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41148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749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10B981"/>
                </a:solidFill>
              </a:defRPr>
            </a:pPr>
            <a:r>
              <a:t>REVIEW 2 (CURRENT DELIVERY - IMPLEMENTED)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Full PostgreSQL 15 transactional persistence engine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In-browser Tesseract OCR + PDF text extraction pipeline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End-to-end Tele-Consultation: tickets, acceptance, real-time chat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Complete Medical Store Catalogue &amp; Owner CRUD Interface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Multi-Role RBAC: Patient, Doctor, Store Owner, System Admin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Family tree graph engine with maternal/paternal inheritance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1645920"/>
            <a:ext cx="265176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0" y="1828800"/>
            <a:ext cx="2286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0284C7"/>
                </a:solidFill>
              </a:defRPr>
            </a:pPr>
            <a:r>
              <a:t>FINAL REVIEW / REVIEW 3 (ROADMAP AHEAD)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WebRTC peer-to-peer encrypted video consultation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Digital Prescription PDF generation with signature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Payment gateway &amp; automated delivery tracking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Multi-clinic federated analytics &amp; FHIR export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284C7"/>
                </a:solidFill>
              </a:defRPr>
            </a:pPr>
            <a:r>
              <a:t>HEALTHSPHERE AI — PROJECT REVIEW 2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System Architecture &amp; End-to-End Data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828800"/>
            <a:ext cx="213969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0E7490"/>
                </a:solidFill>
              </a:defRPr>
            </a:pPr>
            <a:r>
              <a:t>1. Presentation Tier (SPA Client)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▪ Vanilla JS Modular Architecture (No heavy framework bloat)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▪ Dual-role routing: Patients, Doctors, Store Owners, Admin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▪ Client-side OCR worker (`tesseract.js`) for report imaging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▪ Dynamic Family Pedigree canvas rendering &amp; metrics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7432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39312" y="1828800"/>
            <a:ext cx="24140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0E7490"/>
                </a:solidFill>
              </a:defRPr>
            </a:pPr>
            <a:r>
              <a:t>2. Application Tier (Node.js Engine)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▪ Custom REST micro-router with strict regex endpoint matching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▪ Zero-dependency Clinical Rules Engine (`extraction.js`)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▪ Role-Based Access Control (RBAC) &amp; HttpOnly session security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▪ Automated background clinical research aggregator (`PubMed`)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24688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56832" y="1828800"/>
            <a:ext cx="213969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0E7490"/>
                </a:solidFill>
              </a:defRPr>
            </a:pPr>
            <a:r>
              <a:t>3. Intelligence Tier (Clinical Logic)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▪ 35+ Standardized lab analyte reference ranges &amp; flags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▪ Dynamic clinical risk scoring (Cardio, Diabetic, Oncological)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▪ Automated follow-up recommendation &amp; reminder synthesis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▪ Multi-generational genetic condition propagation rules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1645920"/>
            <a:ext cx="219456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00032" y="1828800"/>
            <a:ext cx="186537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0E7490"/>
                </a:solidFill>
              </a:defRPr>
            </a:pPr>
            <a:r>
              <a:t>4. Data Tier (PostgreSQL 15)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▪ Relational tables + JSONB collections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▪ Full transactional snapshotting (`persistToPostgres`)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▪ Dynamic schema migration (`ALTER TABLE IF NOT EXISTS`)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▪ Zero-loss fallback to JSON snapshot during DB maintenance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284C7"/>
                </a:solidFill>
              </a:defRPr>
            </a:pPr>
            <a:r>
              <a:t>HEALTHSPHERE AI — PROJECT REVIEW 2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Module 1: Patient Intelligence &amp; Family Health Tree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284C7"/>
                </a:solidFill>
              </a:defRPr>
            </a:pPr>
            <a:r>
              <a:t>3-GENERATION FAMILY HEALTH GRAPH</a:t>
            </a:r>
          </a:p>
          <a:p>
            <a:pPr>
              <a:spcAft>
                <a:spcPts val="1000"/>
              </a:spcAft>
              <a:defRPr b="1" sz="1200">
                <a:solidFill>
                  <a:srgbClr val="1E293B"/>
                </a:solidFill>
              </a:defRPr>
            </a:pPr>
            <a:r>
              <a:t>• Multi-Generational Hierarchy:</a:t>
            </a:r>
            <a:r>
              <a:rPr b="0">
                <a:solidFill>
                  <a:srgbClr val="64748B"/>
                </a:solidFill>
              </a:rPr>
              <a:t> Models Self, Siblings, Parents, and Maternal/Paternal Grandparents with dynamic re-parenting.</a:t>
            </a:r>
          </a:p>
          <a:p>
            <a:pPr>
              <a:spcAft>
                <a:spcPts val="1000"/>
              </a:spcAft>
              <a:defRPr b="1" sz="1200">
                <a:solidFill>
                  <a:srgbClr val="1E293B"/>
                </a:solidFill>
              </a:defRPr>
            </a:pPr>
            <a:r>
              <a:t>• Genetic Risk Propagation:</a:t>
            </a:r>
            <a:r>
              <a:rPr b="0">
                <a:solidFill>
                  <a:srgbClr val="64748B"/>
                </a:solidFill>
              </a:rPr>
              <a:t> Analyzes hereditary clusters (e.g., Type 2 Diabetes, Early CAD, Hypertension, Breast/Colon Cancer).</a:t>
            </a:r>
          </a:p>
          <a:p>
            <a:pPr>
              <a:spcAft>
                <a:spcPts val="1000"/>
              </a:spcAft>
              <a:defRPr b="1" sz="1200">
                <a:solidFill>
                  <a:srgbClr val="1E293B"/>
                </a:solidFill>
              </a:defRPr>
            </a:pPr>
            <a:r>
              <a:t>• Dynamic Graph Rendering:</a:t>
            </a:r>
            <a:r>
              <a:rPr b="0">
                <a:solidFill>
                  <a:srgbClr val="64748B"/>
                </a:solidFill>
              </a:rPr>
              <a:t> Clean SVG/Canvas tree visualization with relationship tracking and condition badges.</a:t>
            </a:r>
          </a:p>
          <a:p>
            <a:pPr>
              <a:spcAft>
                <a:spcPts val="1000"/>
              </a:spcAft>
              <a:defRPr b="1" sz="1200">
                <a:solidFill>
                  <a:srgbClr val="1E293B"/>
                </a:solidFill>
              </a:defRPr>
            </a:pPr>
            <a:r>
              <a:t>• Clinical Summary Generation:</a:t>
            </a:r>
            <a:r>
              <a:rPr b="0">
                <a:solidFill>
                  <a:srgbClr val="64748B"/>
                </a:solidFill>
              </a:rPr>
              <a:t> Generates aggregated family health summaries ready for physician review.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0B981"/>
                </a:solidFill>
              </a:defRPr>
            </a:pPr>
            <a:r>
              <a:t>LONGITUDINAL BIOMETRICS &amp; RISK SIGNALS</a:t>
            </a:r>
          </a:p>
          <a:p>
            <a:pPr>
              <a:spcAft>
                <a:spcPts val="1000"/>
              </a:spcAft>
              <a:defRPr b="1" sz="1200">
                <a:solidFill>
                  <a:srgbClr val="1E293B"/>
                </a:solidFill>
              </a:defRPr>
            </a:pPr>
            <a:r>
              <a:t>• Biometric Tracking:</a:t>
            </a:r>
            <a:r>
              <a:rPr b="0">
                <a:solidFill>
                  <a:srgbClr val="64748B"/>
                </a:solidFill>
              </a:rPr>
              <a:t> Historical tracking for BMI, Blood Pressure, Fasting Glucose, HbA1c, Lipid Profiles, and Hydration.</a:t>
            </a:r>
          </a:p>
          <a:p>
            <a:pPr>
              <a:spcAft>
                <a:spcPts val="1000"/>
              </a:spcAft>
              <a:defRPr b="1" sz="1200">
                <a:solidFill>
                  <a:srgbClr val="1E293B"/>
                </a:solidFill>
              </a:defRPr>
            </a:pPr>
            <a:r>
              <a:t>• Automated Risk Signals:</a:t>
            </a:r>
            <a:r>
              <a:rPr b="0">
                <a:solidFill>
                  <a:srgbClr val="64748B"/>
                </a:solidFill>
              </a:rPr>
              <a:t> Multi-factorial rule engine detects elevated cardiovascular risk, pre-diabetic shifts, and renal distress.</a:t>
            </a:r>
          </a:p>
          <a:p>
            <a:pPr>
              <a:spcAft>
                <a:spcPts val="1000"/>
              </a:spcAft>
              <a:defRPr b="1" sz="1200">
                <a:solidFill>
                  <a:srgbClr val="1E293B"/>
                </a:solidFill>
              </a:defRPr>
            </a:pPr>
            <a:r>
              <a:t>• Preventive Care Checklists:</a:t>
            </a:r>
            <a:r>
              <a:rPr b="0">
                <a:solidFill>
                  <a:srgbClr val="64748B"/>
                </a:solidFill>
              </a:rPr>
              <a:t> Generates customized screening intervals (e.g., Annual Echocardiogram, Lipid Panel, Eye Fundus).</a:t>
            </a:r>
          </a:p>
          <a:p>
            <a:pPr>
              <a:spcAft>
                <a:spcPts val="1000"/>
              </a:spcAft>
              <a:defRPr b="1" sz="1200">
                <a:solidFill>
                  <a:srgbClr val="1E293B"/>
                </a:solidFill>
              </a:defRPr>
            </a:pPr>
            <a:r>
              <a:t>• Smart Follow-up Reminders:</a:t>
            </a:r>
            <a:r>
              <a:rPr b="0">
                <a:solidFill>
                  <a:srgbClr val="64748B"/>
                </a:solidFill>
              </a:rPr>
              <a:t> Automatically schedules actionable notifications based on abnormal diagnostic lab values.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284C7"/>
                </a:solidFill>
              </a:defRPr>
            </a:pPr>
            <a:r>
              <a:t>HEALTHSPHERE AI — PROJECT REVIEW 2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Module 2: Zero-Dependency Clinical Extraction &amp; OCR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284C7"/>
                </a:solidFill>
              </a:defRPr>
            </a:pPr>
            <a:r>
              <a:t>STAGE 1: Ingestion &amp; OCR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Accepts PDF documents and JPG/PNG medical scans up to 15MB.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Client-side OCR powered by lazy-loaded Tesseract.js WebAssembly worker.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Zero image leakage: Image pixels never leave the browser; only sanitized text streams to backend.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Native PDF text extraction for rapid digital report parsing.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284C7"/>
                </a:solidFill>
              </a:defRPr>
            </a:pPr>
            <a:r>
              <a:t>STAGE 2: Entity Normalization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Regex-based dictionary matching 35+ core diagnostic analytes.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Alias resolution: Maps variations (e.g. 'FBS', 'Fast Glucose', 'FPG') to canonical entity.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Unit standardization: Normalizes mg/dL, mmol/L, g/L, %, and IU/L.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Re-extraction capability for legacy archives without data loss.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284C7"/>
                </a:solidFill>
              </a:defRPr>
            </a:pPr>
            <a:r>
              <a:t>STAGE 3: Clinical Flagging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Standard biological reference range evaluation by sex and age.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Severity classification: Categorizes into Normal, Low, High, and Critical.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Direct ingestion into patient health metrics timeline.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Generates specialty referral tags (e.g., 'Cardiology consultation advised').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284C7"/>
                </a:solidFill>
              </a:defRPr>
            </a:pPr>
            <a:r>
              <a:t>HEALTHSPHERE AI — PROJECT REVIEW 2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Module 3: Doctor Consultation &amp; Real-Time Chat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E7490"/>
                </a:solidFill>
              </a:defRPr>
            </a:pPr>
            <a:r>
              <a:t>DOCTOR DIRECTORY &amp; TICKET ROUTING</a:t>
            </a:r>
          </a:p>
          <a:p>
            <a:pPr>
              <a:spcAft>
                <a:spcPts val="1000"/>
              </a:spcAft>
              <a:defRPr b="1" sz="1200">
                <a:solidFill>
                  <a:srgbClr val="1E293B"/>
                </a:solidFill>
              </a:defRPr>
            </a:pPr>
            <a:r>
              <a:t>• Specialization Directory:</a:t>
            </a:r>
            <a:r>
              <a:rPr b="0">
                <a:solidFill>
                  <a:srgbClr val="64748B"/>
                </a:solidFill>
              </a:rPr>
              <a:t> Browse verified physicians (General Physician, Cardiologist, Endocrinologist, etc.) with fees and experience.</a:t>
            </a:r>
          </a:p>
          <a:p>
            <a:pPr>
              <a:spcAft>
                <a:spcPts val="1000"/>
              </a:spcAft>
              <a:defRPr b="1" sz="1200">
                <a:solidFill>
                  <a:srgbClr val="1E293B"/>
                </a:solidFill>
              </a:defRPr>
            </a:pPr>
            <a:r>
              <a:t>• Flexible Ticket Routing:</a:t>
            </a:r>
            <a:r>
              <a:rPr b="0">
                <a:solidFill>
                  <a:srgbClr val="64748B"/>
                </a:solidFill>
              </a:rPr>
              <a:t> Patients can direct-request a specific doctor OR submit a pool ticket for the first available specialist.</a:t>
            </a:r>
          </a:p>
          <a:p>
            <a:pPr>
              <a:spcAft>
                <a:spcPts val="1000"/>
              </a:spcAft>
              <a:defRPr b="1" sz="1200">
                <a:solidFill>
                  <a:srgbClr val="1E293B"/>
                </a:solidFill>
              </a:defRPr>
            </a:pPr>
            <a:r>
              <a:t>• Doctor Feed &amp; Schedule Control:</a:t>
            </a:r>
            <a:r>
              <a:rPr b="0">
                <a:solidFill>
                  <a:srgbClr val="64748B"/>
                </a:solidFill>
              </a:rPr>
              <a:t> Doctors view pending tickets matching their specialization and accept with custom confirmed time slots.</a:t>
            </a:r>
          </a:p>
          <a:p>
            <a:pPr>
              <a:spcAft>
                <a:spcPts val="1000"/>
              </a:spcAft>
              <a:defRPr b="1" sz="1200">
                <a:solidFill>
                  <a:srgbClr val="1E293B"/>
                </a:solidFill>
              </a:defRPr>
            </a:pPr>
            <a:r>
              <a:t>• Offline Handling:</a:t>
            </a:r>
            <a:r>
              <a:rPr b="0">
                <a:solidFill>
                  <a:srgbClr val="64748B"/>
                </a:solidFill>
              </a:rPr>
              <a:t> Offline doctor requests hold a 24-hour timeout window, while pool tickets timeout in 15 minutes.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0B981"/>
                </a:solidFill>
              </a:defRPr>
            </a:pPr>
            <a:r>
              <a:t>CONSULTATION ROOM &amp; PERSISTENT CHAT</a:t>
            </a:r>
          </a:p>
          <a:p>
            <a:pPr>
              <a:spcAft>
                <a:spcPts val="1000"/>
              </a:spcAft>
              <a:defRPr b="1" sz="1200">
                <a:solidFill>
                  <a:srgbClr val="1E293B"/>
                </a:solidFill>
              </a:defRPr>
            </a:pPr>
            <a:r>
              <a:t>✓ Dual-Route Room Resolution:</a:t>
            </a:r>
            <a:r>
              <a:rPr b="0">
                <a:solidFill>
                  <a:srgbClr val="64748B"/>
                </a:solidFill>
              </a:rPr>
              <a:t> Automatically maps both appointment ID and secure session token (`sessionId`) for frictionless entry.</a:t>
            </a:r>
          </a:p>
          <a:p>
            <a:pPr>
              <a:spcAft>
                <a:spcPts val="1000"/>
              </a:spcAft>
              <a:defRPr b="1" sz="1200">
                <a:solidFill>
                  <a:srgbClr val="1E293B"/>
                </a:solidFill>
              </a:defRPr>
            </a:pPr>
            <a:r>
              <a:t>✓ Bi-Directional Messaging:</a:t>
            </a:r>
            <a:r>
              <a:rPr b="0">
                <a:solidFill>
                  <a:srgbClr val="64748B"/>
                </a:solidFill>
              </a:rPr>
              <a:t> Doctor and Patient exchange text messages with timestamps, sender role indicators, and auto-scroll.</a:t>
            </a:r>
          </a:p>
          <a:p>
            <a:pPr>
              <a:spcAft>
                <a:spcPts val="1000"/>
              </a:spcAft>
              <a:defRPr b="1" sz="1200">
                <a:solidFill>
                  <a:srgbClr val="1E293B"/>
                </a:solidFill>
              </a:defRPr>
            </a:pPr>
            <a:r>
              <a:t>✓ PostgreSQL Thread Persistence:</a:t>
            </a:r>
            <a:r>
              <a:rPr b="0">
                <a:solidFill>
                  <a:srgbClr val="64748B"/>
                </a:solidFill>
              </a:rPr>
              <a:t> Messages and appointments survive server restarts with relational keys (`consult_messages`).</a:t>
            </a:r>
          </a:p>
          <a:p>
            <a:pPr>
              <a:spcAft>
                <a:spcPts val="1000"/>
              </a:spcAft>
              <a:defRPr b="1" sz="1200">
                <a:solidFill>
                  <a:srgbClr val="1E293B"/>
                </a:solidFill>
              </a:defRPr>
            </a:pPr>
            <a:r>
              <a:t>✓ Role-Aware Interface:</a:t>
            </a:r>
            <a:r>
              <a:rPr b="0">
                <a:solidFill>
                  <a:srgbClr val="64748B"/>
                </a:solidFill>
              </a:rPr>
              <a:t> Doctor dashboard displays upcoming appointment queues, direct 'Join Chat' action, and patient clinical summary.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284C7"/>
                </a:solidFill>
              </a:defRPr>
            </a:pPr>
            <a:r>
              <a:t>HEALTHSPHERE AI — PROJECT REVIEW 2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Module 4: Pharmacy Marketplace &amp; Store Owner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284C7"/>
                </a:solidFill>
              </a:defRPr>
            </a:pPr>
            <a:r>
              <a:t>PUBLIC STORE MARKETPLACE (PATIENT VIEW)</a:t>
            </a:r>
          </a:p>
          <a:p>
            <a:pPr>
              <a:spcAft>
                <a:spcPts val="1000"/>
              </a:spcAft>
              <a:defRPr b="1" sz="1200">
                <a:solidFill>
                  <a:srgbClr val="1E293B"/>
                </a:solidFill>
              </a:defRPr>
            </a:pPr>
            <a:r>
              <a:t>• Verified Pharmacy Network:</a:t>
            </a:r>
            <a:r>
              <a:rPr b="0">
                <a:solidFill>
                  <a:srgbClr val="64748B"/>
                </a:solidFill>
              </a:rPr>
              <a:t> Licensed stores across major metropolitan hubs (Sunrise Mumbai, MedPlus Bengaluru, WellCare Delhi).</a:t>
            </a:r>
          </a:p>
          <a:p>
            <a:pPr>
              <a:spcAft>
                <a:spcPts val="1000"/>
              </a:spcAft>
              <a:defRPr b="1" sz="1200">
                <a:solidFill>
                  <a:srgbClr val="1E293B"/>
                </a:solidFill>
              </a:defRPr>
            </a:pPr>
            <a:r>
              <a:t>• Live Inventory Browsing:</a:t>
            </a:r>
            <a:r>
              <a:rPr b="0">
                <a:solidFill>
                  <a:srgbClr val="64748B"/>
                </a:solidFill>
              </a:rPr>
              <a:t> Patients search medicines, examine unit pricing, stock availability, and MRP discounts.</a:t>
            </a:r>
          </a:p>
          <a:p>
            <a:pPr>
              <a:spcAft>
                <a:spcPts val="1000"/>
              </a:spcAft>
              <a:defRPr b="1" sz="1200">
                <a:solidFill>
                  <a:srgbClr val="1E293B"/>
                </a:solidFill>
              </a:defRPr>
            </a:pPr>
            <a:r>
              <a:t>• Prescription Badging (Rx):</a:t>
            </a:r>
            <a:r>
              <a:rPr b="0">
                <a:solidFill>
                  <a:srgbClr val="64748B"/>
                </a:solidFill>
              </a:rPr>
              <a:t> Mandatory prescription flags dynamically enforced for scheduled drugs (e.g. Antibiotics, Insulin).</a:t>
            </a:r>
          </a:p>
          <a:p>
            <a:pPr>
              <a:spcAft>
                <a:spcPts val="1000"/>
              </a:spcAft>
              <a:defRPr b="1" sz="1200">
                <a:solidFill>
                  <a:srgbClr val="1E293B"/>
                </a:solidFill>
              </a:defRPr>
            </a:pPr>
            <a:r>
              <a:t>• Store Contact &amp; Delivery Details:</a:t>
            </a:r>
            <a:r>
              <a:rPr b="0">
                <a:solidFill>
                  <a:srgbClr val="64748B"/>
                </a:solidFill>
              </a:rPr>
              <a:t> Displays store license verification, address, direct phone hotline, and delivery radius.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E7490"/>
                </a:solidFill>
              </a:defRPr>
            </a:pPr>
            <a:r>
              <a:t>STORE OWNER DASHBOARD &amp; PRODUCT CRUD</a:t>
            </a:r>
          </a:p>
          <a:p>
            <a:pPr>
              <a:spcAft>
                <a:spcPts val="1000"/>
              </a:spcAft>
              <a:defRPr b="1" sz="1200">
                <a:solidFill>
                  <a:srgbClr val="1E293B"/>
                </a:solidFill>
              </a:defRPr>
            </a:pPr>
            <a:r>
              <a:t>• Full CRUD Capabilities:</a:t>
            </a:r>
            <a:r>
              <a:rPr b="0">
                <a:solidFill>
                  <a:srgbClr val="64748B"/>
                </a:solidFill>
              </a:rPr>
              <a:t> Store owners can Create, Read, Update, and Delete products with immediate server synchronization.</a:t>
            </a:r>
          </a:p>
          <a:p>
            <a:pPr>
              <a:spcAft>
                <a:spcPts val="1000"/>
              </a:spcAft>
              <a:defRPr b="1" sz="1200">
                <a:solidFill>
                  <a:srgbClr val="1E293B"/>
                </a:solidFill>
              </a:defRPr>
            </a:pPr>
            <a:r>
              <a:t>• Comprehensive Medicine Attributes:</a:t>
            </a:r>
            <a:r>
              <a:rPr b="0">
                <a:solidFill>
                  <a:srgbClr val="64748B"/>
                </a:solidFill>
              </a:rPr>
              <a:t> Manages Name, Category, Price, MRP, Current Stock Units, Dosage Form, and Rx requirement.</a:t>
            </a:r>
          </a:p>
          <a:p>
            <a:pPr>
              <a:spcAft>
                <a:spcPts val="1000"/>
              </a:spcAft>
              <a:defRPr b="1" sz="1200">
                <a:solidFill>
                  <a:srgbClr val="1E293B"/>
                </a:solidFill>
              </a:defRPr>
            </a:pPr>
            <a:r>
              <a:t>• Interactive Data-Table UI:</a:t>
            </a:r>
            <a:r>
              <a:rPr b="0">
                <a:solidFill>
                  <a:srgbClr val="64748B"/>
                </a:solidFill>
              </a:rPr>
              <a:t> Clean responsive table with instant search filter, inline badge tags, and edit modals.</a:t>
            </a:r>
          </a:p>
          <a:p>
            <a:pPr>
              <a:spcAft>
                <a:spcPts val="1000"/>
              </a:spcAft>
              <a:defRPr b="1" sz="1200">
                <a:solidFill>
                  <a:srgbClr val="1E293B"/>
                </a:solidFill>
              </a:defRPr>
            </a:pPr>
            <a:r>
              <a:t>• Inventory Safety Net:</a:t>
            </a:r>
            <a:r>
              <a:rPr b="0">
                <a:solidFill>
                  <a:srgbClr val="64748B"/>
                </a:solidFill>
              </a:rPr>
              <a:t> Warning prompts on out-of-stock thresholds and irreversible deletion confirmations.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284C7"/>
                </a:solidFill>
              </a:defRPr>
            </a:pPr>
            <a:r>
              <a:t>HEALTHSPHERE AI — PROJECT REVIEW 2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Module 5: Clinical Research Aggregator &amp; System Administration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E7490"/>
                </a:solidFill>
              </a:defRPr>
            </a:pPr>
            <a:r>
              <a:t>AUTOMATED CLINICAL RESEARCH AGGREGATOR</a:t>
            </a:r>
          </a:p>
          <a:p>
            <a:pPr>
              <a:spcAft>
                <a:spcPts val="1000"/>
              </a:spcAft>
              <a:defRPr b="1" sz="1200">
                <a:solidFill>
                  <a:srgbClr val="1E293B"/>
                </a:solidFill>
              </a:defRPr>
            </a:pPr>
            <a:r>
              <a:t>• Evidence-Based Clinical Connector:</a:t>
            </a:r>
            <a:r>
              <a:rPr b="0">
                <a:solidFill>
                  <a:srgbClr val="64748B"/>
                </a:solidFill>
              </a:rPr>
              <a:t> Automated background worker syncing open-access biomedical literature from PubMed and ClinicalTrials.gov.</a:t>
            </a:r>
          </a:p>
          <a:p>
            <a:pPr>
              <a:spcAft>
                <a:spcPts val="1000"/>
              </a:spcAft>
              <a:defRPr b="1" sz="1200">
                <a:solidFill>
                  <a:srgbClr val="1E293B"/>
                </a:solidFill>
              </a:defRPr>
            </a:pPr>
            <a:r>
              <a:t>• Rule-Based Summarization:</a:t>
            </a:r>
            <a:r>
              <a:rPr b="0">
                <a:solidFill>
                  <a:srgbClr val="64748B"/>
                </a:solidFill>
              </a:rPr>
              <a:t> Distills complex clinical trials into concise patient-friendly takeaways without hallucinations.</a:t>
            </a:r>
          </a:p>
          <a:p>
            <a:pPr>
              <a:spcAft>
                <a:spcPts val="1000"/>
              </a:spcAft>
              <a:defRPr b="1" sz="1200">
                <a:solidFill>
                  <a:srgbClr val="1E293B"/>
                </a:solidFill>
              </a:defRPr>
            </a:pPr>
            <a:r>
              <a:t>• Condition-Specific Tagging:</a:t>
            </a:r>
            <a:r>
              <a:rPr b="0">
                <a:solidFill>
                  <a:srgbClr val="64748B"/>
                </a:solidFill>
              </a:rPr>
              <a:t> Automatically clusters research by cardiovascular, metabolic, and oncological topics.</a:t>
            </a:r>
          </a:p>
          <a:p>
            <a:pPr>
              <a:spcAft>
                <a:spcPts val="1000"/>
              </a:spcAft>
              <a:defRPr b="1" sz="1200">
                <a:solidFill>
                  <a:srgbClr val="1E293B"/>
                </a:solidFill>
              </a:defRPr>
            </a:pPr>
            <a:r>
              <a:t>• Zero-Leak Ingestion:</a:t>
            </a:r>
            <a:r>
              <a:rPr b="0">
                <a:solidFill>
                  <a:srgbClr val="64748B"/>
                </a:solidFill>
              </a:rPr>
              <a:t> Data fetched through secured backend proxy; client identity is never disclosed to research repositories.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7C3AED"/>
                </a:solidFill>
              </a:defRPr>
            </a:pPr>
            <a:r>
              <a:t>CENTRALIZED ADMIN CONSOLE</a:t>
            </a:r>
          </a:p>
          <a:p>
            <a:pPr>
              <a:spcAft>
                <a:spcPts val="1000"/>
              </a:spcAft>
              <a:defRPr b="1" sz="1200">
                <a:solidFill>
                  <a:srgbClr val="1E293B"/>
                </a:solidFill>
              </a:defRPr>
            </a:pPr>
            <a:r>
              <a:t>• Doctor Credential Verification:</a:t>
            </a:r>
            <a:r>
              <a:rPr b="0">
                <a:solidFill>
                  <a:srgbClr val="64748B"/>
                </a:solidFill>
              </a:rPr>
              <a:t> Admin verification workflow approving Medical Council registration numbers and IDs.</a:t>
            </a:r>
          </a:p>
          <a:p>
            <a:pPr>
              <a:spcAft>
                <a:spcPts val="1000"/>
              </a:spcAft>
              <a:defRPr b="1" sz="1200">
                <a:solidFill>
                  <a:srgbClr val="1E293B"/>
                </a:solidFill>
              </a:defRPr>
            </a:pPr>
            <a:r>
              <a:t>• Pharmacy License Approval:</a:t>
            </a:r>
            <a:r>
              <a:rPr b="0">
                <a:solidFill>
                  <a:srgbClr val="64748B"/>
                </a:solidFill>
              </a:rPr>
              <a:t> Validation of Drug Control Authority licenses before store visibility.</a:t>
            </a:r>
          </a:p>
          <a:p>
            <a:pPr>
              <a:spcAft>
                <a:spcPts val="1000"/>
              </a:spcAft>
              <a:defRPr b="1" sz="1200">
                <a:solidFill>
                  <a:srgbClr val="1E293B"/>
                </a:solidFill>
              </a:defRPr>
            </a:pPr>
            <a:r>
              <a:t>• System Metrics &amp; Platform Health:</a:t>
            </a:r>
            <a:r>
              <a:rPr b="0">
                <a:solidFill>
                  <a:srgbClr val="64748B"/>
                </a:solidFill>
              </a:rPr>
              <a:t> Real-time telemetry monitoring total registered patients, active sessions, tickets, and store traffic.</a:t>
            </a:r>
          </a:p>
          <a:p>
            <a:pPr>
              <a:spcAft>
                <a:spcPts val="1000"/>
              </a:spcAft>
              <a:defRPr b="1" sz="1200">
                <a:solidFill>
                  <a:srgbClr val="1E293B"/>
                </a:solidFill>
              </a:defRPr>
            </a:pPr>
            <a:r>
              <a:t>• Audit Logs &amp; Compliance:</a:t>
            </a:r>
            <a:r>
              <a:rPr b="0">
                <a:solidFill>
                  <a:srgbClr val="64748B"/>
                </a:solidFill>
              </a:rPr>
              <a:t> Immutable event logging for critical user actions, password alterations, and record exports.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284C7"/>
                </a:solidFill>
              </a:defRPr>
            </a:pPr>
            <a:r>
              <a:t>HEALTHSPHERE AI — PROJECT REVIEW 2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Database Design: PostgreSQL 15 &amp; Resilient Persistence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F172A"/>
                </a:solidFill>
              </a:defRPr>
            </a:pPr>
            <a:r>
              <a:t>RELATIONAL SCHEMA ARCHITECTURE</a:t>
            </a:r>
          </a:p>
          <a:p>
            <a:pPr>
              <a:spcAft>
                <a:spcPts val="700"/>
              </a:spcAft>
              <a:defRPr b="1" sz="1100">
                <a:solidFill>
                  <a:srgbClr val="1E293B"/>
                </a:solidFill>
              </a:defRPr>
            </a:pPr>
            <a:r>
              <a:t>▪ `users` &amp; `sessions`:</a:t>
            </a:r>
            <a:r>
              <a:rPr b="0">
                <a:solidFill>
                  <a:srgbClr val="64748B"/>
                </a:solidFill>
              </a:rPr>
              <a:t> User credentials (salted scrypt hashes), role tags (`patient`, `doctor`, `store_owner`), expiration.</a:t>
            </a:r>
          </a:p>
          <a:p>
            <a:pPr>
              <a:spcAft>
                <a:spcPts val="700"/>
              </a:spcAft>
              <a:defRPr b="1" sz="1100">
                <a:solidFill>
                  <a:srgbClr val="1E293B"/>
                </a:solidFill>
              </a:defRPr>
            </a:pPr>
            <a:r>
              <a:t>▪ `doctor_accounts`:</a:t>
            </a:r>
            <a:r>
              <a:rPr b="0">
                <a:solidFill>
                  <a:srgbClr val="64748B"/>
                </a:solidFill>
              </a:rPr>
              <a:t> License registration, specializations, verified status, fees, availability.</a:t>
            </a:r>
          </a:p>
          <a:p>
            <a:pPr>
              <a:spcAft>
                <a:spcPts val="700"/>
              </a:spcAft>
              <a:defRPr b="1" sz="1100">
                <a:solidFill>
                  <a:srgbClr val="1E293B"/>
                </a:solidFill>
              </a:defRPr>
            </a:pPr>
            <a:r>
              <a:t>▪ `consult_tickets`:</a:t>
            </a:r>
            <a:r>
              <a:rPr b="0">
                <a:solidFill>
                  <a:srgbClr val="64748B"/>
                </a:solidFill>
              </a:rPr>
              <a:t> Specialization, patient ID, symptoms, preferred slots, expiry, preferred doctor ID.</a:t>
            </a:r>
          </a:p>
          <a:p>
            <a:pPr>
              <a:spcAft>
                <a:spcPts val="700"/>
              </a:spcAft>
              <a:defRPr b="1" sz="1100">
                <a:solidFill>
                  <a:srgbClr val="1E293B"/>
                </a:solidFill>
              </a:defRPr>
            </a:pPr>
            <a:r>
              <a:t>▪ `consult_appointments`:</a:t>
            </a:r>
            <a:r>
              <a:rPr b="0">
                <a:solidFill>
                  <a:srgbClr val="64748B"/>
                </a:solidFill>
              </a:rPr>
              <a:t> Confirmed slot, doctor ID, patient ID, session ID token, room status.</a:t>
            </a:r>
          </a:p>
          <a:p>
            <a:pPr>
              <a:spcAft>
                <a:spcPts val="700"/>
              </a:spcAft>
              <a:defRPr b="1" sz="1100">
                <a:solidFill>
                  <a:srgbClr val="1E293B"/>
                </a:solidFill>
              </a:defRPr>
            </a:pPr>
            <a:r>
              <a:t>▪ `consult_messages`:</a:t>
            </a:r>
            <a:r>
              <a:rPr b="0">
                <a:solidFill>
                  <a:srgbClr val="64748B"/>
                </a:solidFill>
              </a:rPr>
              <a:t> Thread message content, sender ID, role tag, timestamp, attachments.</a:t>
            </a:r>
          </a:p>
          <a:p>
            <a:pPr>
              <a:spcAft>
                <a:spcPts val="700"/>
              </a:spcAft>
              <a:defRPr b="1" sz="1100">
                <a:solidFill>
                  <a:srgbClr val="1E293B"/>
                </a:solidFill>
              </a:defRPr>
            </a:pPr>
            <a:r>
              <a:t>▪ `stores` &amp; `store_owner_accounts`:</a:t>
            </a:r>
            <a:r>
              <a:rPr b="0">
                <a:solidFill>
                  <a:srgbClr val="64748B"/>
                </a:solidFill>
              </a:rPr>
              <a:t> Store metadata, license, JSONB products inventory, owner auth.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E7490"/>
                </a:solidFill>
              </a:defRPr>
            </a:pPr>
            <a:r>
              <a:t>PERSISTENCE &amp; RECOVERY INNOVATIONS</a:t>
            </a:r>
          </a:p>
          <a:p>
            <a:pPr>
              <a:spcAft>
                <a:spcPts val="1200"/>
              </a:spcAft>
              <a:defRPr b="1" sz="1200">
                <a:solidFill>
                  <a:srgbClr val="1E293B"/>
                </a:solidFill>
              </a:defRPr>
            </a:pPr>
            <a:r>
              <a:t>✓ Atomic Snapshot Transactions:</a:t>
            </a:r>
            <a:r>
              <a:rPr b="0">
                <a:solidFill>
                  <a:srgbClr val="64748B"/>
                </a:solidFill>
              </a:rPr>
              <a:t> Full ACID transaction boundaries (`BEGIN`...`COMMIT`) preventing partial or corrupted table states.</a:t>
            </a:r>
          </a:p>
          <a:p>
            <a:pPr>
              <a:spcAft>
                <a:spcPts val="1200"/>
              </a:spcAft>
              <a:defRPr b="1" sz="1200">
                <a:solidFill>
                  <a:srgbClr val="1E293B"/>
                </a:solidFill>
              </a:defRPr>
            </a:pPr>
            <a:r>
              <a:t>✓ Zero-Loss JSON Fallback:</a:t>
            </a:r>
            <a:r>
              <a:rPr b="0">
                <a:solidFill>
                  <a:srgbClr val="64748B"/>
                </a:solidFill>
              </a:rPr>
              <a:t> If PostgreSQL undergoes maintenance, engine seamlessly defaults to encrypted local JSON snapshot without service interruption.</a:t>
            </a:r>
          </a:p>
          <a:p>
            <a:pPr>
              <a:spcAft>
                <a:spcPts val="1200"/>
              </a:spcAft>
              <a:defRPr b="1" sz="1200">
                <a:solidFill>
                  <a:srgbClr val="1E293B"/>
                </a:solidFill>
              </a:defRPr>
            </a:pPr>
            <a:r>
              <a:t>✓ Automated Schema Evolution:</a:t>
            </a:r>
            <a:r>
              <a:rPr b="0">
                <a:solidFill>
                  <a:srgbClr val="64748B"/>
                </a:solidFill>
              </a:rPr>
              <a:t> Dynamic startup initialization using `ALTER TABLE ... ADD COLUMN IF NOT EXISTS` for non-destructive upgrades.</a:t>
            </a:r>
          </a:p>
          <a:p>
            <a:pPr>
              <a:spcAft>
                <a:spcPts val="1200"/>
              </a:spcAft>
              <a:defRPr b="1" sz="1200">
                <a:solidFill>
                  <a:srgbClr val="1E293B"/>
                </a:solidFill>
              </a:defRPr>
            </a:pPr>
            <a:r>
              <a:t>✓ Bi-Directional Case Mapping:</a:t>
            </a:r>
            <a:r>
              <a:rPr b="0">
                <a:solidFill>
                  <a:srgbClr val="64748B"/>
                </a:solidFill>
              </a:rPr>
              <a:t> Custom `PG_TO_CAMEL` mapper translating PostgreSQL lowercase columns to idiomatic camelCase JavaScript models.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284C7"/>
                </a:solidFill>
              </a:defRPr>
            </a:pPr>
            <a:r>
              <a:t>HEALTHSPHERE AI — PROJECT REVIEW 2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Security Architecture: Multi-Role RBAC &amp; Privacy-First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828800"/>
            <a:ext cx="213969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10B981"/>
                </a:solidFill>
              </a:defRPr>
            </a:pPr>
            <a:r>
              <a:t>PATIENT ROLE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▪ Cookie-based HttpOnly token authentication.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▪ Isolated access strictly restricted to own health records &amp; family tree.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▪ Anonymized ticket submission to consult pools.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▪ Full data export and permanent deletion rights.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39312" y="1828800"/>
            <a:ext cx="213969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0284C7"/>
                </a:solidFill>
              </a:defRPr>
            </a:pPr>
            <a:r>
              <a:t>DOCTOR ROLE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▪ Dedicated portal at `#/doctor/login`.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▪ Access scoped strictly to accepted patient consultation threads.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▪ License verification lock preventing unauthorized appointments.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▪ Live status toggle (Online/Offline) controlling queue intake.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828800"/>
            <a:ext cx="213969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0E7490"/>
                </a:solidFill>
              </a:defRPr>
            </a:pPr>
            <a:r>
              <a:t>STORE OWNER ROLE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▪ Dedicated portal at `#/store-owner/login`.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▪ Isolated store inventory CRUD operations.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▪ Restricted from viewing patient medical records or diagnoses.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▪ License audit checks against regulatory records.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25712" y="1828800"/>
            <a:ext cx="213969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7C3AED"/>
                </a:solidFill>
              </a:defRPr>
            </a:pPr>
            <a:r>
              <a:t>ADMIN ROLE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▪ Protected elevated credentials (`admin123`).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▪ Platform-wide audit log inspection and metric aggregation.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▪ Medical license approval / rejection authority.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▪ Database maintenance and system health telemetry.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284C7"/>
                </a:solidFill>
              </a:defRPr>
            </a:pPr>
            <a:r>
              <a:t>HEALTHSPHERE AI — PROJECT REVIEW 2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Demonstration Blueprint: Verified End-to-End Test Scenarios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E7490"/>
                </a:solidFill>
              </a:defRPr>
            </a:pPr>
            <a:r>
              <a:t>SCENARIO 1: Patient Intelligence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1. Login as `demo@healthsphere.ai` (Patient Arjun Mehta).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2. Navigate to Family Tree: review 3-generation hereditary graph.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3. Upload blood report PDF/scan: observe in-browser OCR parsing.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4. View Insights: verify elevated glucose &amp; cardio risk signals.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E7490"/>
                </a:solidFill>
              </a:defRPr>
            </a:pPr>
            <a:r>
              <a:t>SCENARIO 2: Consultation &amp; Chat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1. Browse Doctor Directory: filter by Cardiologist (Dr. Sameer Menon).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2. Request direct consultation ticket with preferred time slot.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3. Login as `doctor2@healthsphere.ai`: inspect ticket in doctor queue.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4. Accept appointment -&gt; Open Consult Room -&gt; Exchange live messages.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E7490"/>
                </a:solidFill>
              </a:defRPr>
            </a:pPr>
            <a:r>
              <a:t>SCENARIO 3: Store Catalogue CRUD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1. Patient visits `#/stores`: browse Sunrise Pharmacy catalogue.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2. Login as `pharmacy1@healthsphere.ai` (Store Owner Ravi Sharma).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3. Access Owner Dashboard: Add new medicine ('Cough Syrup 100ml').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4. Update stock/price -&gt; Delete item -&gt; Instant server persistence.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284C7"/>
                </a:solidFill>
              </a:defRPr>
            </a:pPr>
            <a:r>
              <a:t>HEALTHSPHERE AI — PROJECT REVIEW 2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Engineering Challenges &amp; High-Impact Technical 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55648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284C7"/>
                </a:solidFill>
              </a:defRPr>
            </a:pPr>
            <a:r>
              <a:t>POSTGRESQL SCHEMA EVOLUTION &amp; DATA LOSS</a:t>
            </a:r>
          </a:p>
          <a:p>
            <a:pPr>
              <a:spcAft>
                <a:spcPts val="200"/>
              </a:spcAft>
              <a:defRPr b="1" sz="1000">
                <a:solidFill>
                  <a:srgbClr val="E11D48"/>
                </a:solidFill>
              </a:defRPr>
            </a:pPr>
            <a:r>
              <a:t>Challenge: </a:t>
            </a:r>
            <a:r>
              <a:rPr b="0">
                <a:solidFill>
                  <a:srgbClr val="1E293B"/>
                </a:solidFill>
              </a:rPr>
              <a:t>Missing columns (`doctorname`, `sessionid`, `sendername`, `patientname`) caused snapshot inserts to abort, falling back to JSON and losing fresh appointments on restart.</a:t>
            </a:r>
          </a:p>
          <a:p>
            <a:pPr>
              <a:defRPr b="1" sz="1000">
                <a:solidFill>
                  <a:srgbClr val="10B981"/>
                </a:solidFill>
              </a:defRPr>
            </a:pPr>
            <a:r>
              <a:t>Engineered Solution: </a:t>
            </a:r>
            <a:r>
              <a:rPr b="0">
                <a:solidFill>
                  <a:srgbClr val="1E293B"/>
                </a:solidFill>
              </a:rPr>
              <a:t>Designed explicit `ALTER TABLE ADD COLUMN IF NOT EXISTS` automated migration blocks and expanded `PG_TO_CAMEL` mapper for flawless object serialization.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106984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10128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284C7"/>
                </a:solidFill>
              </a:defRPr>
            </a:pPr>
            <a:r>
              <a:t>CONSULTATION ROOM SESSION ROUTING MISMATCH</a:t>
            </a:r>
          </a:p>
          <a:p>
            <a:pPr>
              <a:spcAft>
                <a:spcPts val="200"/>
              </a:spcAft>
              <a:defRPr b="1" sz="1000">
                <a:solidFill>
                  <a:srgbClr val="E11D48"/>
                </a:solidFill>
              </a:defRPr>
            </a:pPr>
            <a:r>
              <a:t>Challenge: </a:t>
            </a:r>
            <a:r>
              <a:rPr b="0">
                <a:solidFill>
                  <a:srgbClr val="1E293B"/>
                </a:solidFill>
              </a:rPr>
              <a:t>Doctor dashboard navigated to `#/consult/room/:sessionId`, but the message retrieval endpoints initially expected numerical `appointmentId`, breaking chat rendering for doctors.</a:t>
            </a:r>
          </a:p>
          <a:p>
            <a:pPr>
              <a:defRPr b="1" sz="1000">
                <a:solidFill>
                  <a:srgbClr val="10B981"/>
                </a:solidFill>
              </a:defRPr>
            </a:pPr>
            <a:r>
              <a:t>Engineered Solution: </a:t>
            </a:r>
            <a:r>
              <a:rPr b="0">
                <a:solidFill>
                  <a:srgbClr val="1E293B"/>
                </a:solidFill>
              </a:rPr>
              <a:t>Engineered a unified resolver accepting either `appointmentId` or `sessionId`, verifying doctor ownership and returning synchronized conversation threads.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6984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64608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284C7"/>
                </a:solidFill>
              </a:defRPr>
            </a:pPr>
            <a:r>
              <a:t>ASYNCHRONOUS DATABASE PERSISTENCE RACE CONDITION</a:t>
            </a:r>
          </a:p>
          <a:p>
            <a:pPr>
              <a:spcAft>
                <a:spcPts val="200"/>
              </a:spcAft>
              <a:defRPr b="1" sz="1000">
                <a:solidFill>
                  <a:srgbClr val="E11D48"/>
                </a:solidFill>
              </a:defRPr>
            </a:pPr>
            <a:r>
              <a:t>Challenge: </a:t>
            </a:r>
            <a:r>
              <a:rPr b="0">
                <a:solidFill>
                  <a:srgbClr val="1E293B"/>
                </a:solidFill>
              </a:rPr>
              <a:t>Synchronous API endpoints triggered non-awaited `persist()` promises, terminating Node processes before PostgreSQL commits completed.</a:t>
            </a:r>
          </a:p>
          <a:p>
            <a:pPr>
              <a:defRPr b="1" sz="1000">
                <a:solidFill>
                  <a:srgbClr val="10B981"/>
                </a:solidFill>
              </a:defRPr>
            </a:pPr>
            <a:r>
              <a:t>Engineered Solution: </a:t>
            </a:r>
            <a:r>
              <a:rPr b="0">
                <a:solidFill>
                  <a:srgbClr val="1E293B"/>
                </a:solidFill>
              </a:rPr>
              <a:t>Refactored consultation and doctor ticket dispatch routes to fully `await persist()`, eliminating race conditions and ensuring 100% durable commits.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284C7"/>
                </a:solidFill>
              </a:defRPr>
            </a:pPr>
            <a:r>
              <a:t>HEALTHSPHERE AI — PROJECT REVIEW 2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Quantitative Outcomes, Validation &amp; Performance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000" b="1">
                <a:solidFill>
                  <a:srgbClr val="10B981"/>
                </a:solidFill>
              </a:defRPr>
            </a:pPr>
            <a:r>
              <a:t>0 ms</a:t>
            </a:r>
          </a:p>
          <a:p>
            <a:pPr algn="ctr">
              <a:spcAft>
                <a:spcPts val="400"/>
              </a:spcAft>
              <a:defRPr sz="1100" b="1">
                <a:solidFill>
                  <a:srgbClr val="1E293B"/>
                </a:solidFill>
              </a:defRPr>
            </a:pPr>
            <a:r>
              <a:t>Cloud API Latency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100% on-device processing with zero third-party cloud streaming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8288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000" b="1">
                <a:solidFill>
                  <a:srgbClr val="0284C7"/>
                </a:solidFill>
              </a:defRPr>
            </a:pPr>
            <a:r>
              <a:t>35+</a:t>
            </a:r>
          </a:p>
          <a:p>
            <a:pPr algn="ctr">
              <a:spcAft>
                <a:spcPts val="400"/>
              </a:spcAft>
              <a:defRPr sz="1100" b="1">
                <a:solidFill>
                  <a:srgbClr val="1E293B"/>
                </a:solidFill>
              </a:defRPr>
            </a:pPr>
            <a:r>
              <a:t>Clinical Analytes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Standardized diagnostic test entities recognized and reference-flagged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688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000" b="1">
                <a:solidFill>
                  <a:srgbClr val="0E7490"/>
                </a:solidFill>
              </a:defRPr>
            </a:pPr>
            <a:r>
              <a:t>&lt; 120 ms</a:t>
            </a:r>
          </a:p>
          <a:p>
            <a:pPr algn="ctr">
              <a:spcAft>
                <a:spcPts val="400"/>
              </a:spcAft>
              <a:defRPr sz="1100" b="1">
                <a:solidFill>
                  <a:srgbClr val="1E293B"/>
                </a:solidFill>
              </a:defRPr>
            </a:pPr>
            <a:r>
              <a:t>REST Response Time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High-throughput Node.js micro-router with optimized SQL indexing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4688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8288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000" b="1">
                <a:solidFill>
                  <a:srgbClr val="0F172A"/>
                </a:solidFill>
              </a:defRPr>
            </a:pPr>
            <a:r>
              <a:t>100%</a:t>
            </a:r>
          </a:p>
          <a:p>
            <a:pPr algn="ctr">
              <a:spcAft>
                <a:spcPts val="400"/>
              </a:spcAft>
              <a:defRPr sz="1100" b="1">
                <a:solidFill>
                  <a:srgbClr val="1E293B"/>
                </a:solidFill>
              </a:defRPr>
            </a:pPr>
            <a:r>
              <a:t>Persistence Durability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Full ACID PostgreSQL compliance with zero loss on server restart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10698480" cy="228600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14800"/>
            <a:ext cx="10149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E7490"/>
                </a:solidFill>
              </a:defRPr>
            </a:pPr>
            <a:r>
              <a:t>CORE VALIDATION &amp; IMPACT OUTCOMES</a:t>
            </a:r>
          </a:p>
          <a:p>
            <a:pPr>
              <a:spcAft>
                <a:spcPts val="600"/>
              </a:spcAft>
              <a:defRPr b="1" sz="1100">
                <a:solidFill>
                  <a:srgbClr val="1E293B"/>
                </a:solidFill>
              </a:defRPr>
            </a:pPr>
            <a:r>
              <a:t>✓ Privacy &amp; HIPAA Alignment:</a:t>
            </a:r>
            <a:r>
              <a:rPr b="0">
                <a:solidFill>
                  <a:srgbClr val="64748B"/>
                </a:solidFill>
              </a:rPr>
              <a:t> No clinical data leaves the user's infrastructure; immune to external data compromises.</a:t>
            </a:r>
          </a:p>
          <a:p>
            <a:pPr>
              <a:spcAft>
                <a:spcPts val="600"/>
              </a:spcAft>
              <a:defRPr b="1" sz="1100">
                <a:solidFill>
                  <a:srgbClr val="1E293B"/>
                </a:solidFill>
              </a:defRPr>
            </a:pPr>
            <a:r>
              <a:t>✓ Multi-Role Operational Readiness:</a:t>
            </a:r>
            <a:r>
              <a:rPr b="0">
                <a:solidFill>
                  <a:srgbClr val="64748B"/>
                </a:solidFill>
              </a:rPr>
              <a:t> Verified workflows for Patients, Physicians, and Pharmacists under single unified architecture.</a:t>
            </a:r>
          </a:p>
          <a:p>
            <a:pPr>
              <a:spcAft>
                <a:spcPts val="600"/>
              </a:spcAft>
              <a:defRPr b="1" sz="1100">
                <a:solidFill>
                  <a:srgbClr val="1E293B"/>
                </a:solidFill>
              </a:defRPr>
            </a:pPr>
            <a:r>
              <a:t>✓ Fault-Tolerant High Availability:</a:t>
            </a:r>
            <a:r>
              <a:rPr b="0">
                <a:solidFill>
                  <a:srgbClr val="64748B"/>
                </a:solidFill>
              </a:rPr>
              <a:t> Successfully validated failover between primary PostgreSQL and resilient snapshot fallback.</a:t>
            </a:r>
          </a:p>
          <a:p>
            <a:pPr>
              <a:spcAft>
                <a:spcPts val="600"/>
              </a:spcAft>
              <a:defRPr b="1" sz="1100">
                <a:solidFill>
                  <a:srgbClr val="1E293B"/>
                </a:solidFill>
              </a:defRPr>
            </a:pPr>
            <a:r>
              <a:t>✓ Interoperable Clinical Knowledge:</a:t>
            </a:r>
            <a:r>
              <a:rPr b="0">
                <a:solidFill>
                  <a:srgbClr val="64748B"/>
                </a:solidFill>
              </a:rPr>
              <a:t> Dynamic synchronization of open-access PubMed trials with patient clinical signals.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284C7"/>
                </a:solidFill>
              </a:defRPr>
            </a:pPr>
            <a:r>
              <a:t>HEALTHSPHERE AI — PROJECT REVIEW 2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Project Roadmap: Deliverables for Final Review (Review 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55648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284C7"/>
                </a:solidFill>
              </a:defRPr>
            </a:pPr>
            <a:r>
              <a:t>MILESTONE 1: WEBRTC VIDEO TELE-CONSULTATION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Peer-to-peer encrypted high-definition video conferencing directly within the consult room.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Integrated screen sharing for collaborative review of diagnostic imaging and charts.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In-call real-time notes and clinical observation recording.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106984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10128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284C7"/>
                </a:solidFill>
              </a:defRPr>
            </a:pPr>
            <a:r>
              <a:t>MILESTONE 2: SIGNED DIGITAL PRESCRIPTION ENGINE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Physician prescription builder generating digitally signed PDF Rx with QR verification.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Direct transmission of prescription orders to patient's selected pharmacy.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Automated medication reminder schedule populated directly from prescription.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6984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64608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284C7"/>
                </a:solidFill>
              </a:defRPr>
            </a:pPr>
            <a:r>
              <a:t>MILESTONE 3: PAYMENT GATEWAY &amp; ORDER DISPATCH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Seamless Razorpay / Stripe payment integration for consultation fees and medicines.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Real-time order fulfillment pipeline and delivery dispatch tracking.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Full FHIR / HL7 standardized JSON data export for hospital interoperability.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0B981"/>
                </a:solidFill>
              </a:defRPr>
            </a:pPr>
            <a:r>
              <a:t>HEALTHSPHERE AI — REVIEW 2</a:t>
            </a:r>
          </a:p>
          <a:p>
            <a:pPr>
              <a:spcAft>
                <a:spcPts val="1800"/>
              </a:spcAft>
              <a:defRPr sz="3600" b="1">
                <a:solidFill>
                  <a:srgbClr val="FFFFFF"/>
                </a:solidFill>
              </a:defRPr>
            </a:pPr>
            <a:r>
              <a:t>Thank You! Questions &amp; Discussion</a:t>
            </a:r>
          </a:p>
          <a:p>
            <a:pPr>
              <a:spcAft>
                <a:spcPts val="2800"/>
              </a:spcAft>
              <a:defRPr sz="1400">
                <a:solidFill>
                  <a:srgbClr val="BAE6FD"/>
                </a:solidFill>
              </a:defRPr>
            </a:pPr>
            <a:r>
              <a:t>Project Summary: HealthSphere AI successfully demonstrates an end-to-end, privacy-preserving, zero-dependency healthcare intelligence platform bridging Patients, Physicians, and Pharmacies with robust PostgreSQL 15 persistence.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Live Demo Ready: Server active on http://localhost:3000 • Tested &amp; Verified across Patient, Doctor, and Store workflows.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